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emf" ContentType="image/x-emf"/>
  <Default Extension="svg" ContentType="image/svg+xml"/>
  <Override PartName="/customXml/itemProps1.xml" ContentType="application/vnd.openxmlformats-officedocument.customXmlProperties+xml"/>
  <Override PartName="/ppt/slideLayouts/slideLayout8.xml" ContentType="application/vnd.openxmlformats-officedocument.presentationml.slideLayout+xml"/>
  <Override PartName="/customXml/itemProps2.xml" ContentType="application/vnd.openxmlformats-officedocument.customXmlProperties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customXml/itemProps3.xml" ContentType="application/vnd.openxmlformats-officedocument.customXmlProperties+xml"/>
  <Override PartName="/ppt/commentAuthors.xml" ContentType="application/vnd.openxmlformats-officedocument.presentationml.commentAuthors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8"/>
    <p:sldId id="257" r:id="rId9"/>
    <p:sldId id="258" r:id="rId10"/>
    <p:sldId id="259" r:id="rId11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erbeck Anke, CB-1" initials="DAC" lastIdx="16" clrIdx="0"/>
  <p:cmAuthor id="2" name="Mazur Karen, AU-1" initials="MKA" lastIdx="21" clrIdx="1"/>
  <p:cmAuthor id="3" name="Karen" initials="K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6F6F6F"/>
  </p:clrMru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Helle Formatvorlage 1 - Akzent 3">
    <a:wholeTbl>
      <a:tcTxStyle>
        <a:fontRef idx="minor">
          <a:srgbClr val="00000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/>
          </a:solidFill>
        </a:fill>
      </a:tcStyle>
    </a:band1V>
    <a:band2V>
      <a:tcStyle>
        <a:tcBdr/>
        <a:fill>
          <a:solidFill>
            <a:schemeClr val="accent5"/>
          </a:solidFill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pos="3840"/>
        <p:guide pos="2160" orient="horz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theme" Target="theme/them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commentAuthors" Target="commentAuthors.xml" 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>
              <a:latin typeface="BMWGroupTN Condensed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81A5-E4C6-4927-B3C0-8FAA582B9D53}" type="datetimeFigureOut">
              <a:rPr lang="de-DE">
                <a:latin typeface="BMWGroupTN Condensed" pitchFamily="50" charset="0"/>
              </a:rPr>
              <a:t>10.10.26</a:t>
            </a:fld>
            <a:endParaRPr lang="de-DE">
              <a:latin typeface="BMWGroupTN Condensed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>
              <a:latin typeface="BMWGroupTN Condensed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B3B58-435A-4CAB-BEDA-B203A898BBFC}" type="slidenum">
              <a:rPr lang="de-DE">
                <a:latin typeface="BMWGroupTN Condensed" pitchFamily="50" charset="0"/>
              </a:rPr>
              <a:t>‹Nr.›</a:t>
            </a:fld>
            <a:endParaRPr lang="de-DE">
              <a:latin typeface="BMWGroupTN Condens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551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724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C138-0CB0-48D5-FFC9-1BD04424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4257DE8-75BA-4EEC-479E-77BEDE14D986}"/>
              </a:ext>
            </a:extLst>
          </p:cNvPr>
          <p:cNvSpPr>
            <a:spLocks noChangeAspect="1" noGrp="1" noRo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CFDD6ED-19E3-C959-31E3-0D414EF31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3308820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png"/><Relationship Id="rId5" Type="http://schemas.openxmlformats.org/officeDocument/2006/relationships/image" Target="../media/media3.svg"/><Relationship Id="rId6" Type="http://schemas.openxmlformats.org/officeDocument/2006/relationships/image" Target="../media/image4.png"/><Relationship Id="rId7" Type="http://schemas.openxmlformats.org/officeDocument/2006/relationships/image" Target="../media/media4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oleObject" Target="../embeddings/oleObject5.bin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oleObject" Target="../embeddings/oleObject6.bin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Relationship Id="rId3" Type="http://schemas.openxmlformats.org/officeDocument/2006/relationships/oleObject" Target="../embeddings/oleObject7.bin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oleObject" Target="../embeddings/oleObject8.bin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emf"/><Relationship Id="rId3" Type="http://schemas.openxmlformats.org/officeDocument/2006/relationships/oleObject" Target="../embeddings/oleObject9.bin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Relationship Id="rId3" Type="http://schemas.openxmlformats.org/officeDocument/2006/relationships/oleObject" Target="../embeddings/oleObject10.bin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emf"/><Relationship Id="rId3" Type="http://schemas.openxmlformats.org/officeDocument/2006/relationships/oleObject" Target="../embeddings/oleObject11.bin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Relationship Id="rId3" Type="http://schemas.openxmlformats.org/officeDocument/2006/relationships/oleObject" Target="../embeddings/oleObject12.bin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oleObject" Target="../embeddings/oleObject13.bin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emf"/><Relationship Id="rId3" Type="http://schemas.openxmlformats.org/officeDocument/2006/relationships/oleObject" Target="../embeddings/oleObject14.bin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emf"/><Relationship Id="rId3" Type="http://schemas.openxmlformats.org/officeDocument/2006/relationships/oleObject" Target="../embeddings/oleObject15.bin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emf"/><Relationship Id="rId3" Type="http://schemas.openxmlformats.org/officeDocument/2006/relationships/oleObject" Target="../embeddings/oleObject16.bin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emf"/><Relationship Id="rId3" Type="http://schemas.openxmlformats.org/officeDocument/2006/relationships/oleObject" Target="../embeddings/oleObject16.bin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emf"/><Relationship Id="rId3" Type="http://schemas.openxmlformats.org/officeDocument/2006/relationships/oleObject" Target="../embeddings/oleObject17.bin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emf"/><Relationship Id="rId3" Type="http://schemas.openxmlformats.org/officeDocument/2006/relationships/oleObject" Target="../embeddings/oleObject18.bin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emf"/><Relationship Id="rId3" Type="http://schemas.openxmlformats.org/officeDocument/2006/relationships/oleObject" Target="../embeddings/oleObject19.bin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emf"/><Relationship Id="rId3" Type="http://schemas.openxmlformats.org/officeDocument/2006/relationships/oleObject" Target="../embeddings/oleObject20.bin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emf"/><Relationship Id="rId3" Type="http://schemas.openxmlformats.org/officeDocument/2006/relationships/oleObject" Target="../embeddings/oleObject21.bin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emf"/><Relationship Id="rId3" Type="http://schemas.openxmlformats.org/officeDocument/2006/relationships/oleObject" Target="../embeddings/oleObject22.bin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userDrawn="1">
  <p:cSld name="Title | Full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8" name="Objekt 7" hidden="1">
                    <a:extLst>
                      <a:ext uri="{FF2B5EF4-FFF2-40B4-BE49-F238E27FC236}">
                        <a16:creationId xmlns:a16="http://schemas.microsoft.com/office/drawing/2014/main" id="{E701C665-C272-490E-8A21-0107CBA54ED1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E0EF039-EC0F-446F-B82A-2FB6C817C8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57226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/>
          <a:lstStyle>
            <a:lvl1pPr marL="0" indent="0" rtl="0">
              <a:lnSpc>
                <a:spcPct val="100000"/>
              </a:lnSpc>
              <a:spcAft>
                <a:spcPts val="600"/>
              </a:spcAft>
              <a:buNone/>
              <a:defRPr/>
            </a:lvl1pPr>
          </a:lstStyle>
          <a:p>
            <a:r>
              <a:rPr lang="de-DE" noProof="0"/>
              <a:t> 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88DEDB73-663D-4E69-BA2A-A35D3F0824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701" y="5887328"/>
            <a:ext cx="2654300" cy="419100"/>
          </a:xfrm>
          <a:custGeom>
            <a:avLst/>
            <a:gdLst>
              <a:gd name="connsiteX0" fmla="*/ 262299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125" h="363401">
                <a:moveTo>
                  <a:pt x="203807" y="0"/>
                </a:moveTo>
                <a:lnTo>
                  <a:pt x="1762125" y="0"/>
                </a:lnTo>
                <a:lnTo>
                  <a:pt x="1762125" y="363401"/>
                </a:lnTo>
                <a:lnTo>
                  <a:pt x="0" y="363401"/>
                </a:lnTo>
                <a:lnTo>
                  <a:pt x="203807" y="0"/>
                </a:lnTo>
                <a:close/>
              </a:path>
            </a:pathLst>
          </a:custGeom>
          <a:solidFill>
            <a:schemeClr val="tx2"/>
          </a:solidFill>
          <a:ln w="19050">
            <a:noFill/>
            <a:miter lim="800000"/>
          </a:ln>
          <a:effectLst>
            <a:outerShdw dist="25400" dir="144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32054" tIns="72000" rIns="504000" bIns="72000" rtlCol="0" anchor="ctr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lang="de-DE" sz="1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de-DE" err="1"/>
              <a:t>Dept</a:t>
            </a:r>
            <a:r>
              <a:rPr lang="de-DE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37978"/>
            <a:ext cx="12192000" cy="1376513"/>
          </a:xfrm>
          <a:noFill/>
        </p:spPr>
        <p:txBody>
          <a:bodyPr vert="horz" wrap="square" lIns="572400" tIns="72000" rIns="572400" bIns="72000" anchor="b">
            <a:no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/>
              <a:t>presentation title, two lines maximum.</a:t>
            </a:r>
            <a:br>
              <a:rPr lang="en-US" noProof="0"/>
            </a:br>
            <a:r>
              <a:rPr lang="en-US" noProof="0"/>
              <a:t>text can be moved vertically.</a:t>
            </a:r>
            <a:endParaRPr lang="de-DE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311365"/>
            <a:ext cx="12192000" cy="453183"/>
          </a:xfrm>
          <a:prstGeom prst="rect">
            <a:avLst/>
          </a:prstGeom>
          <a:noFill/>
        </p:spPr>
        <p:txBody>
          <a:bodyPr wrap="square" lIns="572400" tIns="72000" rIns="572400" bIns="72000"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0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err="1"/>
              <a:t>SubTitle</a:t>
            </a:r>
            <a:r>
              <a:rPr lang="de-DE" noProof="0"/>
              <a:t>,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</a:t>
            </a:r>
            <a:r>
              <a:rPr lang="en-US" noProof="0"/>
              <a:t>maximum</a:t>
            </a:r>
            <a:r>
              <a:rPr lang="de-DE" noProof="0"/>
              <a:t>.</a:t>
            </a:r>
          </a:p>
        </p:txBody>
      </p:sp>
      <p:sp>
        <p:nvSpPr>
          <p:cNvPr id="17" name="SmartArt-Platzhalter 6">
            <a:extLst>
              <a:ext uri="{FF2B5EF4-FFF2-40B4-BE49-F238E27FC236}">
                <a16:creationId xmlns:a16="http://schemas.microsoft.com/office/drawing/2014/main" id="{BEF5298C-10DE-4459-A25C-6BF3ABC562A5}"/>
              </a:ext>
            </a:extLst>
          </p:cNvPr>
          <p:cNvSpPr>
            <a:spLocks noChangeAspect="1" noGrp="1"/>
          </p:cNvSpPr>
          <p:nvPr>
            <p:ph type="dgm" sz="quarter" idx="24" hasCustomPrompt="1"/>
          </p:nvPr>
        </p:nvSpPr>
        <p:spPr>
          <a:xfrm>
            <a:off x="572400" y="572399"/>
            <a:ext cx="1099906" cy="572400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/>
              <a:t>.</a:t>
            </a:r>
          </a:p>
        </p:txBody>
      </p:sp>
      <p:sp>
        <p:nvSpPr>
          <p:cNvPr id="18" name="SmartArt-Platzhalter 4">
            <a:extLst>
              <a:ext uri="{FF2B5EF4-FFF2-40B4-BE49-F238E27FC236}">
                <a16:creationId xmlns:a16="http://schemas.microsoft.com/office/drawing/2014/main" id="{FCCF42BF-D9E0-4820-BABA-DAF1A43D227B}"/>
              </a:ext>
            </a:extLst>
          </p:cNvPr>
          <p:cNvSpPr>
            <a:spLocks noChangeAspect="1" noGrp="1"/>
          </p:cNvSpPr>
          <p:nvPr>
            <p:ph type="dgm" sz="quarter" idx="23" hasCustomPrompt="1"/>
          </p:nvPr>
        </p:nvSpPr>
        <p:spPr>
          <a:xfrm>
            <a:off x="9947294" y="572400"/>
            <a:ext cx="1672306" cy="572400"/>
          </a:xfrm>
          <a:blipFill>
            <a:blip r:embed="rId6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/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C8B21A6-8453-43A9-BD65-C40990DB6E0F}"/>
              </a:ext>
            </a:extLst>
          </p:cNvPr>
          <p:cNvSpPr/>
          <p:nvPr userDrawn="1"/>
        </p:nvSpPr>
        <p:spPr bwMode="white">
          <a:xfrm>
            <a:off x="11001080" y="6608189"/>
            <a:ext cx="1190920" cy="249811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156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Divider | Half Area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EF5BEF2A-9A1E-4EAC-B0F5-2DDB471F4249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6B223D4-141A-4CF8-A0E8-2BDBE75FE8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22302"/>
            <a:ext cx="6369154" cy="1144352"/>
          </a:xfrm>
        </p:spPr>
        <p:txBody>
          <a:bodyPr wrap="square" lIns="0" tIns="0" rIns="0" bIns="0">
            <a:noAutofit/>
          </a:bodyPr>
          <a:lstStyle>
            <a:lvl1pPr marL="0" indent="0" rtl="0">
              <a:lnSpc>
                <a:spcPct val="100000"/>
              </a:lnSpc>
              <a:buFontTx/>
              <a:buNone/>
              <a:defRPr sz="7200" b="1">
                <a:solidFill>
                  <a:schemeClr val="tx2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 noProof="0"/>
              <a:t>A1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518E7B-00FD-45A8-91EB-08EBB2BB7FA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43270" y="1"/>
            <a:ext cx="4848730" cy="6570481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marL="0" indent="0" rtl="0">
              <a:lnSpc>
                <a:spcPct val="100000"/>
              </a:lnSpc>
              <a:buNone/>
              <a:defRPr lang="en-GB">
                <a:latin typeface="BMWGroupTN Condensed" pitchFamily="50" charset="0"/>
              </a:defRPr>
            </a:lvl1pPr>
          </a:lstStyle>
          <a:p>
            <a:pPr marL="0" lvl="0"/>
            <a:r>
              <a:rPr lang="de-DE" noProof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9808" y="2565951"/>
            <a:ext cx="6374130" cy="1846659"/>
          </a:xfrm>
          <a:noFill/>
        </p:spPr>
        <p:txBody>
          <a:bodyPr vert="horz" wrap="square" lIns="0" tIns="0" rIns="0" bIns="0" anchor="t" anchorCtr="0">
            <a:no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b="0" cap="all" baseline="0">
                <a:solidFill>
                  <a:schemeClr val="tx1"/>
                </a:solidFill>
              </a:defRPr>
            </a:lvl1pPr>
          </a:lstStyle>
          <a:p>
            <a:r>
              <a:rPr lang="de-DE" noProof="0" err="1"/>
              <a:t>Divider</a:t>
            </a:r>
            <a:r>
              <a:rPr lang="de-DE" noProof="0"/>
              <a:t>.</a:t>
            </a:r>
            <a:br>
              <a:rPr lang="de-DE" noProof="0"/>
            </a:br>
            <a:r>
              <a:rPr lang="de-DE" noProof="0" err="1"/>
              <a:t>Coloured</a:t>
            </a:r>
            <a:r>
              <a:rPr lang="de-DE" noProof="0"/>
              <a:t> Area </a:t>
            </a:r>
            <a:r>
              <a:rPr lang="de-DE" noProof="0" err="1"/>
              <a:t>or</a:t>
            </a:r>
            <a:r>
              <a:rPr lang="de-DE" noProof="0"/>
              <a:t> </a:t>
            </a:r>
            <a:br>
              <a:rPr lang="de-DE" noProof="0"/>
            </a:br>
            <a:r>
              <a:rPr lang="de-DE" noProof="0"/>
              <a:t>Picture on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right</a:t>
            </a:r>
            <a:r>
              <a:rPr lang="de-DE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348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Grid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DEE7053F-DB9B-44B2-AD0F-3AB1F6CB5717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59530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Grid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C568A48D-FC8F-4A69-A7C6-8F5625DC62B3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65323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Grid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45D995C9-90CA-4EE8-9DD8-83F67413969C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3628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4166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Grid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6A87CDE6-4D31-464C-B238-7EB6F6DBD01F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66885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Grid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05645238-9DEC-4A72-9BA1-F517092FAE02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8930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D1CCC0F5-E43D-4616-B7C4-E058ADB680BD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D9028297-F8A3-40B3-AA36-477ABB38F3E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11224684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cap="all" baseline="0"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568052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9873D050-8C41-4684-9B1D-81971AB52E6D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BA9CD6AC-9C73-4D8F-9F5C-1CF35772BD3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7288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4EA6A0CB-E01D-4647-9CEB-66AA968428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6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88099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F7C54160-9C46-4866-882D-50B5C096B17C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30" name="Inhaltsplatzhalter 3">
            <a:extLst>
              <a:ext uri="{FF2B5EF4-FFF2-40B4-BE49-F238E27FC236}">
                <a16:creationId xmlns:a16="http://schemas.microsoft.com/office/drawing/2014/main" id="{3988BB4E-F1CA-4BC0-993D-C218662BA85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16069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0D7FB171-0CB4-4740-8625-DD15BF1FF8D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6" name="Inhaltsplatzhalter 1">
            <a:extLst>
              <a:ext uri="{FF2B5EF4-FFF2-40B4-BE49-F238E27FC236}">
                <a16:creationId xmlns:a16="http://schemas.microsoft.com/office/drawing/2014/main" id="{51462A60-9CA1-461B-A29A-E91D63B609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60506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Content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2562CC6E-EDA2-4F9E-A09B-A2E54AB188C9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8BA2F5EE-5EBD-4514-8AF6-B05EC345392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69460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32" name="Inhaltsplatzhalter 3">
            <a:extLst>
              <a:ext uri="{FF2B5EF4-FFF2-40B4-BE49-F238E27FC236}">
                <a16:creationId xmlns:a16="http://schemas.microsoft.com/office/drawing/2014/main" id="{60EC06ED-6F07-4680-9AE2-23D7698B36D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09289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027E4EC2-9005-40D4-918C-FD11293AE43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49118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8" name="Inhaltsplatzhalter 1">
            <a:extLst>
              <a:ext uri="{FF2B5EF4-FFF2-40B4-BE49-F238E27FC236}">
                <a16:creationId xmlns:a16="http://schemas.microsoft.com/office/drawing/2014/main" id="{CD857AE5-6C50-432B-94B7-EC5D482133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634068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Content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5" name="Objekt 4" hidden="1">
                    <a:extLst>
                      <a:ext uri="{FF2B5EF4-FFF2-40B4-BE49-F238E27FC236}">
                        <a16:creationId xmlns:a16="http://schemas.microsoft.com/office/drawing/2014/main" id="{78D39B1E-A015-4084-940D-8BBABCAACD8C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0" name="Inhaltsplatzhalter 4"/>
          <p:cNvSpPr>
            <a:spLocks noGrp="1"/>
          </p:cNvSpPr>
          <p:nvPr>
            <p:ph sz="quarter" idx="13" hasCustomPrompt="1"/>
          </p:nvPr>
        </p:nvSpPr>
        <p:spPr>
          <a:xfrm>
            <a:off x="6317289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2" hasCustomPrompt="1"/>
          </p:nvPr>
        </p:nvSpPr>
        <p:spPr>
          <a:xfrm>
            <a:off x="488947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1" hasCustomPrompt="1"/>
          </p:nvPr>
        </p:nvSpPr>
        <p:spPr>
          <a:xfrm>
            <a:off x="6317289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4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97895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userDrawn="1">
  <p:cSld name="Content |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5" name="Objekt 4" hidden="1">
                    <a:extLst>
                      <a:ext uri="{FF2B5EF4-FFF2-40B4-BE49-F238E27FC236}">
                        <a16:creationId xmlns:a16="http://schemas.microsoft.com/office/drawing/2014/main" id="{54C7F330-3D64-4FB0-93F8-C1BA49AFA826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/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accent4"/>
              </a:gs>
              <a:gs pos="100000">
                <a:schemeClr val="accent6"/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 panose="05000000000000000000"/>
              <a:buNone/>
            </a:pPr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788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userDrawn="1">
  <p:cSld name="Content | Area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5" name="Objekt 4" hidden="1">
                    <a:extLst>
                      <a:ext uri="{FF2B5EF4-FFF2-40B4-BE49-F238E27FC236}">
                        <a16:creationId xmlns:a16="http://schemas.microsoft.com/office/drawing/2014/main" id="{54C7F330-3D64-4FB0-93F8-C1BA49AFA826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/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 panose="05000000000000000000"/>
              <a:buNone/>
            </a:pPr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231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userDrawn="1">
  <p:cSld name="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5" name="Objekt 4" hidden="1">
                    <a:extLst>
                      <a:ext uri="{FF2B5EF4-FFF2-40B4-BE49-F238E27FC236}">
                        <a16:creationId xmlns:a16="http://schemas.microsoft.com/office/drawing/2014/main" id="{F2FD9A65-9362-4228-B368-164FA84D1704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6316130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4" name="Bildplatzhalter 1">
            <a:extLst>
              <a:ext uri="{FF2B5EF4-FFF2-40B4-BE49-F238E27FC236}">
                <a16:creationId xmlns:a16="http://schemas.microsoft.com/office/drawing/2014/main" id="{5730C142-F37E-4F0E-997D-1B4882F0DF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27441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userDrawn="1">
  <p:cSld name="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4E3B85CB-7648-45C2-8AA4-9F501EFD0459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5FB2A3B7-A796-4B19-828B-216A63DF68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5553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3962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userDrawn="1">
  <p:cSld name="Content |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8ECEF4E8-D1ED-4741-8EA5-2F059DE1A839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9" name="Bildplatzhalter 2">
            <a:extLst>
              <a:ext uri="{FF2B5EF4-FFF2-40B4-BE49-F238E27FC236}">
                <a16:creationId xmlns:a16="http://schemas.microsoft.com/office/drawing/2014/main" id="{21DD1C87-BB96-419F-854D-07AA4BC5B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17289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7" name="Bildplatzhalter 1">
            <a:extLst>
              <a:ext uri="{FF2B5EF4-FFF2-40B4-BE49-F238E27FC236}">
                <a16:creationId xmlns:a16="http://schemas.microsoft.com/office/drawing/2014/main" id="{002A9939-48F2-4545-B99B-4FBDD4F466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8947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21A07BCC-CBB3-45C5-871C-CEC015A95C5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968797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4842ABB0-6221-4430-AD7F-233AE6B84A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6130" y="3968798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8257827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userDrawn="1">
  <p:cSld name="Content |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58C59CFA-1435-478E-96A7-9D9FDB54C8FF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C1CC7D62-9893-4BEA-8A91-B49BF94C36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6069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D8F13227-C5D1-4782-B063-BEEC402A95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02508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8E88005D-BECE-427C-8BF8-4FB5D6607AF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8947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15" name="Inhaltsplatzhalter 1">
            <a:extLst>
              <a:ext uri="{FF2B5EF4-FFF2-40B4-BE49-F238E27FC236}">
                <a16:creationId xmlns:a16="http://schemas.microsoft.com/office/drawing/2014/main" id="{F618BC1E-BA4B-4C2D-9055-151550F257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39749FF8-9C62-429D-B248-147D3882DD4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0B2A38E1-027A-4A9E-9C3E-5F354A4A6AD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116069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146487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userDrawn="1">
  <p:cSld name="Content |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Objekt 3" hidden="1">
                    <a:extLst>
                      <a:ext uri="{FF2B5EF4-FFF2-40B4-BE49-F238E27FC236}">
                        <a16:creationId xmlns:a16="http://schemas.microsoft.com/office/drawing/2014/main" id="{B11DD4F3-1611-4813-B014-B6F6B1F774E7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A143C20-52BF-4891-994E-588F7993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69460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9B1A1B6B-6B2F-4D5A-91A8-C5161E45AB0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9289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073F01E6-A077-4F39-A94E-9EFE54D2E4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349118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11" name="Bildplatzhalter 1">
            <a:extLst>
              <a:ext uri="{FF2B5EF4-FFF2-40B4-BE49-F238E27FC236}">
                <a16:creationId xmlns:a16="http://schemas.microsoft.com/office/drawing/2014/main" id="{320CFD8C-6A4A-4FAB-822D-054B82DCFD4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8947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6CE7BB11-9C21-456E-83D7-62B9D458E2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27E42A5D-C99D-4B3C-99B7-053CF69A119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9118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1" name="Inhaltsplatzhalter 1">
            <a:extLst>
              <a:ext uri="{FF2B5EF4-FFF2-40B4-BE49-F238E27FC236}">
                <a16:creationId xmlns:a16="http://schemas.microsoft.com/office/drawing/2014/main" id="{7DCDE22D-7C60-4E83-A6E8-C458BFB9DFC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09289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BC839F12-6E68-4D1C-B187-9307DD85F16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69460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296047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Key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5" name="Objekt 4" hidden="1">
                    <a:extLst>
                      <a:ext uri="{FF2B5EF4-FFF2-40B4-BE49-F238E27FC236}">
                        <a16:creationId xmlns:a16="http://schemas.microsoft.com/office/drawing/2014/main" id="{85183DF9-0121-47E6-9B72-30EF7AB86CD4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4" name="Bildplatzhalter 1"/>
          <p:cNvSpPr>
            <a:spLocks noGrp="1"/>
          </p:cNvSpPr>
          <p:nvPr>
            <p:ph type="pic" sz="quarter" idx="10" hasCustomPrompt="1"/>
          </p:nvPr>
        </p:nvSpPr>
        <p:spPr>
          <a:xfrm>
            <a:off x="10578" y="-30637"/>
            <a:ext cx="12192000" cy="657048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noProof="0"/>
            </a:lvl1pPr>
          </a:lstStyle>
          <a:p>
            <a:pPr marL="0" lvl="0" indent="0">
              <a:buNone/>
            </a:pPr>
            <a:r>
              <a:rPr lang="de-DE" noProof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1412875"/>
            <a:ext cx="12202578" cy="1449216"/>
          </a:xfrm>
          <a:noFill/>
        </p:spPr>
        <p:txBody>
          <a:bodyPr vert="horz" lIns="572400" tIns="108000" rIns="572400" bIns="108000"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Key Note </a:t>
            </a:r>
            <a:r>
              <a:rPr lang="de-DE" noProof="0" err="1"/>
              <a:t>slide</a:t>
            </a:r>
            <a:r>
              <a:rPr lang="de-DE" noProof="0"/>
              <a:t> </a:t>
            </a:r>
            <a:r>
              <a:rPr lang="de-DE" noProof="0" err="1"/>
              <a:t>with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without</a:t>
            </a:r>
            <a:r>
              <a:rPr lang="de-DE" noProof="0"/>
              <a:t> Picture. </a:t>
            </a:r>
            <a:br>
              <a:rPr lang="de-DE" noProof="0"/>
            </a:br>
            <a:r>
              <a:rPr lang="de-DE" noProof="0"/>
              <a:t>(Short!) Text </a:t>
            </a:r>
            <a:r>
              <a:rPr lang="de-DE" noProof="0" err="1"/>
              <a:t>can</a:t>
            </a:r>
            <a:r>
              <a:rPr lang="de-DE" noProof="0"/>
              <a:t> </a:t>
            </a:r>
            <a:r>
              <a:rPr lang="de-DE" noProof="0" err="1"/>
              <a:t>be</a:t>
            </a:r>
            <a:r>
              <a:rPr lang="de-DE" noProof="0"/>
              <a:t> </a:t>
            </a:r>
            <a:r>
              <a:rPr lang="de-DE" noProof="0" err="1"/>
              <a:t>moved</a:t>
            </a:r>
            <a:r>
              <a:rPr lang="de-DE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0039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type="tx">
  <p:cSld name="1_Content |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rafik 2" descr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565"/>
            <a:ext cx="12192000" cy="6614453"/>
          </a:xfrm>
          <a:prstGeom prst="rect">
            <a:avLst/>
          </a:prstGeom>
          <a:ln w="12700">
            <a:miter lim="400000"/>
          </a:ln>
        </p:spPr>
      </p:pic>
      <p:sp>
        <p:nvSpPr>
          <p:cNvPr id="535" name="BMW Group Trennlinie"/>
          <p:cNvSpPr/>
          <p:nvPr/>
        </p:nvSpPr>
        <p:spPr>
          <a:xfrm>
            <a:off x="-2" y="6572266"/>
            <a:ext cx="12192002" cy="1"/>
          </a:xfrm>
          <a:prstGeom prst="line">
            <a:avLst/>
          </a:prstGeom>
          <a:ln w="25400">
            <a:solidFill>
              <a:srgbClr val="000000">
                <a:alpha val="25000"/>
              </a:srgbClr>
            </a:solidFill>
          </a:ln>
        </p:spPr>
        <p:txBody>
          <a:bodyPr tIns="45714" bIns="45714"/>
          <a:lstStyle/>
          <a:p>
            <a:pPr defTabSz="914309">
              <a:lnSpc>
                <a:spcPct val="100000"/>
              </a:lnSpc>
              <a:spcBef>
                <a:spcPts val="0"/>
              </a:spcBef>
              <a:defRPr sz="3600"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pPr>
            <a:endParaRPr sz="1800"/>
          </a:p>
        </p:txBody>
      </p:sp>
      <p:sp>
        <p:nvSpPr>
          <p:cNvPr id="536" name="Textebene 1…"/>
          <p:cNvSpPr txBox="1">
            <a:spLocks noGrp="1"/>
          </p:cNvSpPr>
          <p:nvPr>
            <p:ph type="body" idx="1" hasCustomPrompt="1"/>
          </p:nvPr>
        </p:nvSpPr>
        <p:spPr>
          <a:xfrm>
            <a:off x="488947" y="1413932"/>
            <a:ext cx="11224685" cy="4894793"/>
          </a:xfrm>
          <a:prstGeom prst="rect">
            <a:avLst/>
          </a:prstGeom>
          <a:ln w="12700"/>
        </p:spPr>
        <p:txBody>
          <a:bodyPr lIns="0" tIns="0" rIns="0" bIns="0" anchor="t"/>
          <a:lstStyle>
            <a:lvl1pPr marL="190781" indent="-190781" defTabSz="914309">
              <a:lnSpc>
                <a:spcPct val="100000"/>
              </a:lnSpc>
              <a:spcBef>
                <a:spcPts val="600"/>
              </a:spcBef>
              <a:buClr>
                <a:srgbClr val="035970"/>
              </a:buClr>
              <a:buSzPct val="100000"/>
              <a:buChar char="▪"/>
              <a:defRPr sz="1800">
                <a:solidFill>
                  <a:srgbClr val="000000"/>
                </a:solidFill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1pPr>
            <a:lvl2pPr marL="286171" indent="-190781" defTabSz="914309">
              <a:lnSpc>
                <a:spcPct val="100000"/>
              </a:lnSpc>
              <a:spcBef>
                <a:spcPts val="600"/>
              </a:spcBef>
              <a:buClr>
                <a:srgbClr val="035970"/>
              </a:buClr>
              <a:buSzPct val="100000"/>
              <a:buChar char="-"/>
              <a:defRPr sz="1800">
                <a:solidFill>
                  <a:srgbClr val="000000"/>
                </a:solidFill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2pPr>
            <a:lvl3pPr marL="381562" indent="-190781" defTabSz="914309">
              <a:lnSpc>
                <a:spcPct val="100000"/>
              </a:lnSpc>
              <a:spcBef>
                <a:spcPts val="600"/>
              </a:spcBef>
              <a:buClr>
                <a:srgbClr val="035970"/>
              </a:buClr>
              <a:buSzPct val="100000"/>
              <a:buChar char="-"/>
              <a:defRPr sz="1800">
                <a:solidFill>
                  <a:srgbClr val="000000"/>
                </a:solidFill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3pPr>
            <a:lvl4pPr marL="476952" indent="-190781" defTabSz="914309">
              <a:lnSpc>
                <a:spcPct val="100000"/>
              </a:lnSpc>
              <a:spcBef>
                <a:spcPts val="600"/>
              </a:spcBef>
              <a:buClr>
                <a:srgbClr val="035970"/>
              </a:buClr>
              <a:buSzPct val="100000"/>
              <a:buChar char="-"/>
              <a:defRPr sz="1800">
                <a:solidFill>
                  <a:srgbClr val="000000"/>
                </a:solidFill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4pPr>
            <a:lvl5pPr marL="572343" indent="-190781" defTabSz="914309">
              <a:lnSpc>
                <a:spcPct val="100000"/>
              </a:lnSpc>
              <a:spcBef>
                <a:spcPts val="600"/>
              </a:spcBef>
              <a:buClr>
                <a:srgbClr val="035970"/>
              </a:buClr>
              <a:buSzPct val="100000"/>
              <a:buChar char="-"/>
              <a:defRPr sz="1800">
                <a:solidFill>
                  <a:srgbClr val="000000"/>
                </a:solidFill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5pPr>
          </a:lstStyle>
          <a:p>
            <a:r>
              <a:t>Click to edit text. To insert content like a table or diagram just click the icon in the middle of the placeholder.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7" name="Click to edit Action Title. 26pt. All Caps. Two lines maximum."/>
          <p:cNvSpPr txBox="1">
            <a:spLocks noGrp="1"/>
          </p:cNvSpPr>
          <p:nvPr>
            <p:ph type="title" hasCustomPrompt="1"/>
          </p:nvPr>
        </p:nvSpPr>
        <p:spPr>
          <a:xfrm>
            <a:off x="488947" y="347185"/>
            <a:ext cx="11224685" cy="400111"/>
          </a:xfrm>
          <a:prstGeom prst="rect">
            <a:avLst/>
          </a:prstGeom>
          <a:ln w="12700"/>
        </p:spPr>
        <p:txBody>
          <a:bodyPr lIns="0" tIns="0" rIns="0" bIns="0" anchor="t"/>
          <a:lstStyle>
            <a:lvl1pPr defTabSz="914309">
              <a:lnSpc>
                <a:spcPct val="100000"/>
              </a:lnSpc>
              <a:spcBef>
                <a:spcPts val="600"/>
              </a:spcBef>
              <a:defRPr sz="2600" spc="0"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1pPr>
          </a:lstStyle>
          <a:p>
            <a:r>
              <a:t>Click to edit Action Title. 26pt. All Caps. Two lines maximum.</a:t>
            </a:r>
          </a:p>
        </p:txBody>
      </p:sp>
    </p:spTree>
    <p:extLst>
      <p:ext uri="{BB962C8B-B14F-4D97-AF65-F5344CB8AC3E}">
        <p14:creationId xmlns:p14="http://schemas.microsoft.com/office/powerpoint/2010/main" val="2789317231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23" Type="http://schemas.openxmlformats.org/officeDocument/2006/relationships/image" Target="../media/image1.emf"/><Relationship Id="rId2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24" imgW="0" imgH="0" progId="TCLayout.ActiveDocument.1">
              <p:embed/>
              <p:pic>
                <p:nvPicPr>
                  <p:cNvPr id="10" name="Objekt 9" hidden="1">
                    <a:extLst>
                      <a:ext uri="{FF2B5EF4-FFF2-40B4-BE49-F238E27FC236}">
                        <a16:creationId xmlns:a16="http://schemas.microsoft.com/office/drawing/2014/main" id="{09EE4F16-695E-4248-98E9-D0E744B1D25A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8" name="Textplatzhalter 1"/>
          <p:cNvSpPr>
            <a:spLocks noGrp="1"/>
          </p:cNvSpPr>
          <p:nvPr>
            <p:ph type="body" idx="1"/>
          </p:nvPr>
        </p:nvSpPr>
        <p:spPr>
          <a:xfrm>
            <a:off x="488947" y="1413933"/>
            <a:ext cx="11224684" cy="4894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4001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</a:t>
            </a:r>
            <a:r>
              <a:rPr lang="de-DE" noProof="0" err="1"/>
              <a:t>Uppercase</a:t>
            </a:r>
            <a:r>
              <a:rPr lang="de-DE" noProof="0"/>
              <a:t>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max.</a:t>
            </a:r>
          </a:p>
        </p:txBody>
      </p:sp>
      <p:cxnSp>
        <p:nvCxnSpPr>
          <p:cNvPr id="9" name="BMW Group Trennlinie">
            <a:extLst>
              <a:ext uri="{FF2B5EF4-FFF2-40B4-BE49-F238E27FC236}">
                <a16:creationId xmlns:a16="http://schemas.microsoft.com/office/drawing/2014/main" id="{BC1828C9-D469-4FB9-A7A2-6539CE4617FD}"/>
              </a:ext>
            </a:extLst>
          </p:cNvPr>
          <p:cNvCxnSpPr/>
          <p:nvPr userDrawn="1"/>
        </p:nvCxnSpPr>
        <p:spPr>
          <a:xfrm>
            <a:off x="-1" y="6572265"/>
            <a:ext cx="12192001" cy="0"/>
          </a:xfrm>
          <a:prstGeom prst="line">
            <a:avLst/>
          </a:prstGeom>
          <a:ln w="12700">
            <a:solidFill>
              <a:schemeClr val="tx1">
                <a:alpha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mpower - DO NOT DELETE!!!" hidden="1">
            <a:extLst>
              <a:ext uri="{FF2B5EF4-FFF2-40B4-BE49-F238E27FC236}">
                <a16:creationId xmlns:a16="http://schemas.microsoft.com/office/drawing/2014/main" id="{B3B1D5C6-D7B3-1BA4-DACA-B015C23164F2}"/>
              </a:ext>
            </a:extLst>
          </p:cNvPr>
          <p:cNvSpPr/>
          <p:nvPr userDrawn="1"/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5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FußzeileAU1">
            <a:extLst>
              <a:ext uri="{FF2B5EF4-FFF2-40B4-BE49-F238E27FC236}">
                <a16:creationId xmlns:a16="http://schemas.microsoft.com/office/drawing/2014/main" id="{1DB72E71-6ADA-A882-847A-1150760D4C63}"/>
              </a:ext>
            </a:extLst>
          </p:cNvPr>
          <p:cNvSpPr/>
          <p:nvPr userDrawn="1"/>
        </p:nvSpPr>
        <p:spPr>
          <a:xfrm>
            <a:off x="488947" y="6646943"/>
            <a:ext cx="3459280" cy="153888"/>
          </a:xfrm>
          <a:prstGeom prst="rect">
            <a:avLst/>
          </a:prstGeom>
          <a:noFill/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lang="de-DE" sz="1000">
                <a:solidFill>
                  <a:schemeClr val="tx1">
                    <a:tint val="90000"/>
                  </a:schemeClr>
                </a:solidFill>
              </a:rPr>
              <a:t>BMW Product Management @ TUM.ai Hackathon | 10. &amp; 11.10.2026</a:t>
            </a:r>
          </a:p>
        </p:txBody>
      </p:sp>
      <p:sp>
        <p:nvSpPr>
          <p:cNvPr id="13" name="SeitenzahlAU1">
            <a:extLst>
              <a:ext uri="{FF2B5EF4-FFF2-40B4-BE49-F238E27FC236}">
                <a16:creationId xmlns:a16="http://schemas.microsoft.com/office/drawing/2014/main" id="{5E9774BF-6AE9-B761-3523-E3D63A6F877B}"/>
              </a:ext>
            </a:extLst>
          </p:cNvPr>
          <p:cNvSpPr/>
          <p:nvPr userDrawn="1"/>
        </p:nvSpPr>
        <p:spPr>
          <a:xfrm>
            <a:off x="11338528" y="6646943"/>
            <a:ext cx="375103" cy="153888"/>
          </a:xfrm>
          <a:prstGeom prst="rect">
            <a:avLst/>
          </a:prstGeom>
          <a:noFill/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algn="r"/>
            <a:r>
              <a:rPr lang="de-DE" sz="1000">
                <a:solidFill>
                  <a:schemeClr val="tx1">
                    <a:tint val="90000"/>
                  </a:schemeClr>
                </a:solidFill>
              </a:rPr>
              <a:t>- </a:t>
            </a:r>
            <a:fld id="{4F98FC0E-623E-462B-9198-DC4313091AB2}" type="slidenum">
              <a:rPr lang="de-DE" sz="1000" smtClean="0">
                <a:solidFill>
                  <a:schemeClr val="tx1">
                    <a:tint val="90000"/>
                  </a:schemeClr>
                </a:solidFill>
              </a:rPr>
              <a:pPr algn="r"/>
              <a:t>‹Nr.›</a:t>
            </a:fld>
            <a:r>
              <a:rPr lang="de-DE" sz="1000">
                <a:solidFill>
                  <a:schemeClr val="tx1">
                    <a:tint val="90000"/>
                  </a:schemeClr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2889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908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 panose="05000000000000000000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itchFamily="34" charset="0" panose="020B0606020202020204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724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itchFamily="34" charset="0" panose="020B0606020202020204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7632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itchFamily="34" charset="0" panose="020B0606020202020204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9540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itchFamily="34" charset="0" panose="020B0606020202020204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emf"/><Relationship Id="rId3" Type="http://schemas.openxmlformats.org/officeDocument/2006/relationships/oleObject" Target="../embeddings/oleObject23.bin"/><Relationship Id="rId4" Type="http://schemas.openxmlformats.org/officeDocument/2006/relationships/image" Target="../media/image2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6.emf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7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Relationship Id="rId4" Type="http://schemas.openxmlformats.org/officeDocument/2006/relationships/image" Target="../media/media25.svg"/><Relationship Id="rId5" Type="http://schemas.openxmlformats.org/officeDocument/2006/relationships/image" Target="../media/image30.png"/><Relationship Id="rId6" Type="http://schemas.openxmlformats.org/officeDocument/2006/relationships/image" Target="../media/media26.svg"/><Relationship Id="rId7" Type="http://schemas.openxmlformats.org/officeDocument/2006/relationships/image" Target="../media/image31.png"/><Relationship Id="rId8" Type="http://schemas.openxmlformats.org/officeDocument/2006/relationships/image" Target="../media/media27.svg"/><Relationship Id="rId9" Type="http://schemas.openxmlformats.org/officeDocument/2006/relationships/image" Target="../media/image32.png"/><Relationship Id="rId10" Type="http://schemas.openxmlformats.org/officeDocument/2006/relationships/image" Target="../media/media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" name="think-cell data - do not delete" hidden="1">
                    <a:extLst>
                      <a:ext uri="{FF2B5EF4-FFF2-40B4-BE49-F238E27FC236}">
                        <a16:creationId xmlns:a16="http://schemas.microsoft.com/office/drawing/2014/main" id="{77F44B4B-2D99-42FA-4C30-116DF593008F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063F415-EED0-8419-83D8-5CC1B1B14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5257800"/>
            <a:ext cx="8531352" cy="566928"/>
          </a:xfrm>
          <a:noFill/>
          <a:ln>
            <a:noFill/>
          </a:ln>
        </p:spPr>
        <p:txBody>
          <a:bodyPr lIns="27432" tIns="18288" rIns="27432" bIns="18288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de-DE" sz="3200" b="0">
                <a:solidFill>
                  <a:srgbClr val="C8D7E0"/>
                </a:solidFill>
                <a:latin typeface="BMWGroupTN Condensed"/>
              </a:rPr>
              <a:t>SHEER DRIVING PLEASURE</a:t>
            </a:r>
            <a:endParaRPr lang="de-DE" sz="240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6B80E4-0CF4-3C58-6A97-1E5EE656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38912"/>
            <a:ext cx="11064240" cy="658368"/>
          </a:xfrm>
        </p:spPr>
        <p:txBody>
          <a:bodyPr vert="horz" lIns="27432" tIns="18288" rIns="27432" bIns="18288" anchor="ctr"/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BMWGroupTN Condensed"/>
              </a:rPr>
              <a:t>Emotions, ENGINEERED INTO A PRODUCT.</a:t>
            </a:r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3CF857E-C802-3D68-1B5E-58327D00A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713" y="1274937"/>
            <a:ext cx="4367525" cy="380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68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/>
          <p:cNvGraphicFramePr>
            <a:graphicFrameLocks xmlns:a="http://schemas.openxmlformats.org/drawingml/2006/main"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30" name="think-cell data - do not delete" hidden="1">
                    <a:extLst>
                      <a:ext uri="{FF2B5EF4-FFF2-40B4-BE49-F238E27FC236}">
                        <a16:creationId xmlns:a16="http://schemas.microsoft.com/office/drawing/2014/main" id="{673D3708-23AD-1A5A-10E5-C76A37B14BCB}"/>
                      </a:ext>
                    </a:extLst>
                  </p:cNvPr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588" y="1588"/>
                    <a:ext cx="1588" cy="15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063F415-EED0-8419-83D8-5CC1B1B14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0832" y="3573887"/>
            <a:ext cx="3456432" cy="1115568"/>
          </a:xfrm>
          <a:noFill/>
          <a:ln w="19050">
            <a:noFill/>
          </a:ln>
        </p:spPr>
        <p:txBody>
          <a:bodyPr lIns="27432" tIns="18288" rIns="27432" bIns="18288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3200" b="1">
                <a:solidFill>
                  <a:srgbClr val="FFFFFF"/>
                </a:solidFill>
                <a:latin typeface="BMWGroupTN Condensed"/>
              </a:rPr>
              <a:t>PRODUCT</a:t>
            </a:r>
            <a:endParaRPr lang="de-DE" sz="3200" b="1">
              <a:solidFill>
                <a:srgbClr val="FFFFFF"/>
              </a:solidFill>
              <a:latin typeface="BMWGroupTN Condensed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sz="3200" b="1">
                <a:solidFill>
                  <a:srgbClr val="FFFFFF"/>
                </a:solidFill>
                <a:latin typeface="BMWGroupTN Condensed"/>
              </a:rPr>
              <a:t>MANAGEMENT</a:t>
            </a:r>
            <a:endParaRPr lang="de-DE" sz="200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6B80E4-0CF4-3C58-6A97-1E5EE656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685800"/>
          </a:xfrm>
        </p:spPr>
        <p:txBody>
          <a:bodyPr vert="horz" lIns="27432" tIns="18288" rIns="27432" bIns="18288" anchor="ctr"/>
          <a:lstStyle/>
          <a:p>
            <a:pPr algn="l">
              <a:lnSpc>
                <a:spcPct val="100000"/>
              </a:lnSpc>
            </a:pPr>
            <a:r>
              <a:rPr lang="de-DE" sz="3600" b="1">
                <a:solidFill>
                  <a:srgbClr val="FFFFFF"/>
                </a:solidFill>
                <a:latin typeface="BMWGroupTN Condensed"/>
              </a:rPr>
              <a:t>THE </a:t>
            </a:r>
            <a:r>
              <a:rPr sz="3600" b="1">
                <a:solidFill>
                  <a:srgbClr val="FFFFFF"/>
                </a:solidFill>
                <a:latin typeface="BMWGroupTN Condensed"/>
              </a:rPr>
              <a:t>PRODUCT MANAGEMENT </a:t>
            </a:r>
            <a:r>
              <a:rPr lang="de-DE" sz="3600" b="1">
                <a:solidFill>
                  <a:srgbClr val="FFFFFF"/>
                </a:solidFill>
                <a:latin typeface="BMWGroupTN Condensed"/>
              </a:rPr>
              <a:t>Universe</a:t>
            </a:r>
            <a:r>
              <a:rPr sz="3600" b="1">
                <a:solidFill>
                  <a:srgbClr val="FFFFFF"/>
                </a:solidFill>
                <a:latin typeface="BMWGroupTN Condensed"/>
              </a:rPr>
              <a:t>.</a:t>
            </a:r>
            <a:endParaRPr lang="de-DE"/>
          </a:p>
        </p:txBody>
      </p:sp>
      <p:sp>
        <p:nvSpPr>
          <p:cNvPr id="6" name="Oval 5"/>
          <p:cNvSpPr/>
          <p:nvPr/>
        </p:nvSpPr>
        <p:spPr>
          <a:xfrm>
            <a:off x="4142232" y="2618559"/>
            <a:ext cx="3913632" cy="3112823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71267" y="2889731"/>
            <a:ext cx="2057550" cy="52937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de-DE" sz="3200" b="1" dirty="0">
                <a:solidFill>
                  <a:srgbClr val="FFFFFF"/>
                </a:solidFill>
                <a:latin typeface="BMWGroupTN Condensed"/>
              </a:rPr>
              <a:t>Engineering</a:t>
            </a:r>
            <a:endParaRPr sz="3200" b="1" dirty="0">
              <a:solidFill>
                <a:srgbClr val="FFFFFF"/>
              </a:solidFill>
              <a:latin typeface="BMWGroupTN Condense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55501" y="2925829"/>
            <a:ext cx="2669770" cy="52937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sz="3200" b="1" err="1">
                <a:solidFill>
                  <a:srgbClr val="FFFFFF"/>
                </a:solidFill>
                <a:latin typeface="BMWGroupTN Condensed"/>
              </a:rPr>
              <a:t>Markets</a:t>
            </a:r>
            <a:r>
              <a:rPr lang="de-DE" sz="3200" b="1">
                <a:solidFill>
                  <a:srgbClr val="FFFFFF"/>
                </a:solidFill>
                <a:latin typeface="BMWGroupTN Condensed"/>
              </a:rPr>
              <a:t> / Sales</a:t>
            </a:r>
            <a:endParaRPr sz="3200" b="1">
              <a:solidFill>
                <a:srgbClr val="FFFFFF"/>
              </a:solidFill>
              <a:latin typeface="BMWGroupTN Condense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50349" y="5596155"/>
            <a:ext cx="1642244" cy="52937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3200" b="1">
                <a:solidFill>
                  <a:srgbClr val="FFFFFF"/>
                </a:solidFill>
                <a:latin typeface="BMWGroupTN Condensed"/>
              </a:rPr>
              <a:t>Customer</a:t>
            </a:r>
            <a:endParaRPr sz="3200" b="1">
              <a:solidFill>
                <a:srgbClr val="FFFFFF"/>
              </a:solidFill>
              <a:latin typeface="BMWGroupTN Condensed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05CDBA3-6BD3-D1FF-C019-99BAC419C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586" y="1260268"/>
            <a:ext cx="674827" cy="685800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D1486682-91ED-1EBA-2717-C64C9C8ED2F3}"/>
              </a:ext>
            </a:extLst>
          </p:cNvPr>
          <p:cNvSpPr txBox="1"/>
          <p:nvPr/>
        </p:nvSpPr>
        <p:spPr>
          <a:xfrm>
            <a:off x="5563449" y="1914552"/>
            <a:ext cx="1065100" cy="52937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sz="3200" b="1">
                <a:solidFill>
                  <a:srgbClr val="FFFFFF"/>
                </a:solidFill>
                <a:latin typeface="BMWGroupTN Condensed"/>
              </a:rPr>
              <a:t>Brand</a:t>
            </a:r>
            <a:endParaRPr sz="3200" b="1">
              <a:solidFill>
                <a:srgbClr val="FFFFFF"/>
              </a:solidFill>
              <a:latin typeface="BMWGroupTN Condensed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E39BC1C-FA0C-9EE0-8E5F-2A2EEA752325}"/>
              </a:ext>
            </a:extLst>
          </p:cNvPr>
          <p:cNvSpPr txBox="1"/>
          <p:nvPr/>
        </p:nvSpPr>
        <p:spPr>
          <a:xfrm>
            <a:off x="7506503" y="5668351"/>
            <a:ext cx="2074992" cy="52937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3200" b="1">
                <a:solidFill>
                  <a:srgbClr val="FFFFFF"/>
                </a:solidFill>
                <a:latin typeface="BMWGroupTN Condensed"/>
              </a:rPr>
              <a:t>Competition</a:t>
            </a:r>
            <a:endParaRPr sz="3200" b="1">
              <a:solidFill>
                <a:srgbClr val="FFFFFF"/>
              </a:solidFill>
              <a:latin typeface="BMWGroupTN Condensed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2DDBCDF-8A12-D7AD-DD9B-385F400F6EE7}"/>
              </a:ext>
            </a:extLst>
          </p:cNvPr>
          <p:cNvSpPr/>
          <p:nvPr/>
        </p:nvSpPr>
        <p:spPr>
          <a:xfrm>
            <a:off x="4226404" y="3152208"/>
            <a:ext cx="404100" cy="3992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0816266-DB0A-FE48-CAA9-B40F5E81969D}"/>
              </a:ext>
            </a:extLst>
          </p:cNvPr>
          <p:cNvSpPr/>
          <p:nvPr/>
        </p:nvSpPr>
        <p:spPr>
          <a:xfrm>
            <a:off x="5893949" y="2441367"/>
            <a:ext cx="404100" cy="3992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0DB1D65-79E2-EDA9-218C-A53650EE6DF4}"/>
              </a:ext>
            </a:extLst>
          </p:cNvPr>
          <p:cNvSpPr/>
          <p:nvPr/>
        </p:nvSpPr>
        <p:spPr>
          <a:xfrm>
            <a:off x="7561498" y="3152208"/>
            <a:ext cx="404100" cy="3992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FEB8259-D70B-0F61-2BB8-D1724B539911}"/>
              </a:ext>
            </a:extLst>
          </p:cNvPr>
          <p:cNvSpPr/>
          <p:nvPr/>
        </p:nvSpPr>
        <p:spPr>
          <a:xfrm>
            <a:off x="7102403" y="5223067"/>
            <a:ext cx="404100" cy="3992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477B3-8E2F-6EB4-A732-134AD6416FB6}"/>
              </a:ext>
            </a:extLst>
          </p:cNvPr>
          <p:cNvSpPr/>
          <p:nvPr/>
        </p:nvSpPr>
        <p:spPr>
          <a:xfrm>
            <a:off x="4592593" y="5109568"/>
            <a:ext cx="404100" cy="3992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768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66B80E4-0CF4-3C58-6A97-1E5EE656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685800"/>
          </a:xfrm>
        </p:spPr>
        <p:txBody>
          <a:bodyPr lIns="27432" tIns="18288" rIns="27432" bIns="18288" anchor="ctr"/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FFFFFF"/>
                </a:solidFill>
                <a:latin typeface="BMWGroupTN Condensed"/>
              </a:rPr>
              <a:t>FROM </a:t>
            </a:r>
            <a:r>
              <a:rPr lang="de-DE" sz="3500" b="1" err="1">
                <a:solidFill>
                  <a:srgbClr val="FFFFFF"/>
                </a:solidFill>
                <a:latin typeface="BMWGroupTN Condensed"/>
              </a:rPr>
              <a:t>billions</a:t>
            </a:r>
            <a:r>
              <a:rPr lang="de-DE" sz="3500" b="1">
                <a:solidFill>
                  <a:srgbClr val="FFFFFF"/>
                </a:solidFill>
                <a:latin typeface="BMWGroupTN Condensed"/>
              </a:rPr>
              <a:t> of </a:t>
            </a:r>
            <a:r>
              <a:rPr lang="de-DE" sz="3500" b="1" err="1">
                <a:solidFill>
                  <a:srgbClr val="FFFFFF"/>
                </a:solidFill>
                <a:latin typeface="BMWGroupTN Condensed"/>
              </a:rPr>
              <a:t>findings</a:t>
            </a:r>
            <a:r>
              <a:rPr lang="de-DE" sz="3500" b="1">
                <a:solidFill>
                  <a:srgbClr val="FFFFFF"/>
                </a:solidFill>
                <a:latin typeface="BMWGroupTN Condensed"/>
              </a:rPr>
              <a:t> to </a:t>
            </a:r>
            <a:r>
              <a:rPr lang="de-DE" sz="3500" b="1" err="1">
                <a:solidFill>
                  <a:srgbClr val="FFFFFF"/>
                </a:solidFill>
                <a:latin typeface="BMWGroupTN Condensed"/>
              </a:rPr>
              <a:t>one</a:t>
            </a:r>
            <a:r>
              <a:rPr lang="de-DE" sz="3500" b="1">
                <a:solidFill>
                  <a:srgbClr val="FFFFFF"/>
                </a:solidFill>
                <a:latin typeface="BMWGroupTN Condensed"/>
              </a:rPr>
              <a:t> BMW Vehicle</a:t>
            </a:r>
            <a:r>
              <a:rPr sz="3500" b="1">
                <a:solidFill>
                  <a:srgbClr val="FFFFFF"/>
                </a:solidFill>
                <a:latin typeface="BMWGroupTN Condensed"/>
              </a:rPr>
              <a:t>.</a:t>
            </a:r>
            <a:endParaRPr lang="de-DE"/>
          </a:p>
        </p:txBody>
      </p:sp>
      <p:pic>
        <p:nvPicPr>
          <p:cNvPr id="27" name="Future BMW-inspired sedan, AI concept illustration" descr="Speculative AI-generated BMW-inspired four-door sedan. Not an official BMW model."/>
          <p:cNvPicPr>
            <a:picLocks noChangeAspect="1"/>
          </p:cNvPicPr>
          <p:nvPr/>
        </p:nvPicPr>
        <p:blipFill>
          <a:blip r:embed="rId3">
            <a:alphaModFix amt="42000"/>
          </a:blip>
          <a:srcRect l="10000" t="8959" r="2300" b="19659"/>
          <a:stretch>
            <a:fillRect/>
          </a:stretch>
        </p:blipFill>
        <p:spPr>
          <a:xfrm>
            <a:off x="5616894" y="2004740"/>
            <a:ext cx="6376329" cy="3620649"/>
          </a:xfrm>
          <a:prstGeom prst="rect">
            <a:avLst/>
          </a:prstGeom>
          <a:effectLst>
            <a:softEdge rad="355600"/>
          </a:effectLst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063F415-EED0-8419-83D8-5CC1B1B14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1518" y="5880804"/>
            <a:ext cx="7276959" cy="369427"/>
          </a:xfrm>
          <a:noFill/>
          <a:ln>
            <a:noFill/>
          </a:ln>
        </p:spPr>
        <p:txBody>
          <a:bodyPr lIns="0" tIns="18288" rIns="27432" bIns="18288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BMWGroupTN Condensed"/>
              </a:rPr>
              <a:t>Customer Requirement = Customer Relevant Attribute of a Car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2069A06-198D-404C-FCF4-7A17AA324FDE}"/>
              </a:ext>
            </a:extLst>
          </p:cNvPr>
          <p:cNvSpPr txBox="1"/>
          <p:nvPr/>
        </p:nvSpPr>
        <p:spPr>
          <a:xfrm>
            <a:off x="571500" y="1335990"/>
            <a:ext cx="1477969" cy="43088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28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1 BILLION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15C050C-7793-E90B-5800-6B224A505F3E}"/>
              </a:ext>
            </a:extLst>
          </p:cNvPr>
          <p:cNvSpPr txBox="1"/>
          <p:nvPr/>
        </p:nvSpPr>
        <p:spPr>
          <a:xfrm>
            <a:off x="571500" y="1755090"/>
            <a:ext cx="665247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300" b="1" kern="1200">
                <a:solidFill>
                  <a:schemeClr val="bg1"/>
                </a:solidFill>
                <a:latin typeface="BMWGroupTN Condensed" pitchFamily="2" charset="0"/>
                <a:ea typeface="+mn-ea"/>
                <a:cs typeface="+mn-cs"/>
              </a:rPr>
              <a:t>FINDINGS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A7C0411-B268-B584-6FF5-EB35A0C22C65}"/>
              </a:ext>
            </a:extLst>
          </p:cNvPr>
          <p:cNvSpPr txBox="1"/>
          <p:nvPr/>
        </p:nvSpPr>
        <p:spPr>
          <a:xfrm>
            <a:off x="5435600" y="1335990"/>
            <a:ext cx="864019" cy="43088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28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1,000</a:t>
            </a:r>
            <a:endParaRPr lang="de-DE" sz="280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EEE7A8-7BB7-8A8E-AFEA-F2A3213CEB89}"/>
              </a:ext>
            </a:extLst>
          </p:cNvPr>
          <p:cNvSpPr txBox="1"/>
          <p:nvPr/>
        </p:nvSpPr>
        <p:spPr>
          <a:xfrm>
            <a:off x="5172192" y="1755090"/>
            <a:ext cx="1138132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300" b="1" kern="1200">
                <a:solidFill>
                  <a:schemeClr val="bg1"/>
                </a:solidFill>
                <a:latin typeface="BMWGroupTN Condensed" pitchFamily="2" charset="0"/>
                <a:ea typeface="+mn-ea"/>
                <a:cs typeface="+mn-cs"/>
              </a:rPr>
              <a:t>REQUIREMENTS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63C33F3-38BE-656E-81FB-6CC1B70CA491}"/>
              </a:ext>
            </a:extLst>
          </p:cNvPr>
          <p:cNvSpPr txBox="1"/>
          <p:nvPr/>
        </p:nvSpPr>
        <p:spPr>
          <a:xfrm>
            <a:off x="9398000" y="1335990"/>
            <a:ext cx="642805" cy="43088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28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ONE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425A6DF-ACC4-2C4B-1F31-A1276FC4A946}"/>
              </a:ext>
            </a:extLst>
          </p:cNvPr>
          <p:cNvSpPr txBox="1"/>
          <p:nvPr/>
        </p:nvSpPr>
        <p:spPr>
          <a:xfrm>
            <a:off x="9745852" y="1755090"/>
            <a:ext cx="294953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300" b="1" kern="1200">
                <a:solidFill>
                  <a:schemeClr val="bg1"/>
                </a:solidFill>
                <a:latin typeface="BMWGroupTN Condensed" pitchFamily="2" charset="0"/>
                <a:ea typeface="+mn-ea"/>
                <a:cs typeface="+mn-cs"/>
              </a:rPr>
              <a:t>CAR</a:t>
            </a:r>
          </a:p>
        </p:txBody>
      </p:sp>
      <p:sp>
        <p:nvSpPr>
          <p:cNvPr id="10" name="Pfeil: Chevron 9">
            <a:extLst>
              <a:ext uri="{FF2B5EF4-FFF2-40B4-BE49-F238E27FC236}">
                <a16:creationId xmlns:a16="http://schemas.microsoft.com/office/drawing/2014/main" id="{C26D5481-F509-EFA6-030B-596724D5CA34}"/>
              </a:ext>
            </a:extLst>
          </p:cNvPr>
          <p:cNvSpPr/>
          <p:nvPr/>
        </p:nvSpPr>
        <p:spPr>
          <a:xfrm>
            <a:off x="3789371" y="1488390"/>
            <a:ext cx="152400" cy="228600"/>
          </a:xfrm>
          <a:prstGeom prst="chevron">
            <a:avLst/>
          </a:prstGeom>
          <a:solidFill>
            <a:schemeClr val="bg1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Pfeil: Chevron 10">
            <a:extLst>
              <a:ext uri="{FF2B5EF4-FFF2-40B4-BE49-F238E27FC236}">
                <a16:creationId xmlns:a16="http://schemas.microsoft.com/office/drawing/2014/main" id="{DA6C2B65-D77C-AE1D-B891-2A795454DBF2}"/>
              </a:ext>
            </a:extLst>
          </p:cNvPr>
          <p:cNvSpPr/>
          <p:nvPr/>
        </p:nvSpPr>
        <p:spPr>
          <a:xfrm>
            <a:off x="7624771" y="1488390"/>
            <a:ext cx="152400" cy="228600"/>
          </a:xfrm>
          <a:prstGeom prst="chevron">
            <a:avLst/>
          </a:prstGeom>
          <a:solidFill>
            <a:schemeClr val="bg1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7CA6734-784A-390F-314B-409760565016}"/>
              </a:ext>
            </a:extLst>
          </p:cNvPr>
          <p:cNvCxnSpPr/>
          <p:nvPr/>
        </p:nvCxnSpPr>
        <p:spPr>
          <a:xfrm>
            <a:off x="571500" y="2413000"/>
            <a:ext cx="0" cy="299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5DC8C3F2-EA44-7D4F-0AC8-36FB2BC5E1DC}"/>
              </a:ext>
            </a:extLst>
          </p:cNvPr>
          <p:cNvSpPr txBox="1"/>
          <p:nvPr/>
        </p:nvSpPr>
        <p:spPr>
          <a:xfrm>
            <a:off x="723900" y="2456506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“Charging takes too long.”</a:t>
            </a:r>
            <a:endParaRPr lang="de-DE" sz="1500" i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ACCFC26-39F5-FA47-7C8F-54ECFBA03B78}"/>
              </a:ext>
            </a:extLst>
          </p:cNvPr>
          <p:cNvSpPr txBox="1"/>
          <p:nvPr/>
        </p:nvSpPr>
        <p:spPr>
          <a:xfrm>
            <a:off x="723900" y="3004700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“Too </a:t>
            </a:r>
            <a:r>
              <a:rPr lang="de-DE" sz="1500" i="1" kern="120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many</a:t>
            </a: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 </a:t>
            </a:r>
            <a:r>
              <a:rPr lang="de-DE" sz="1500" i="1" kern="120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menus</a:t>
            </a: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.”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097EA56-41B4-6D41-D2E6-5CEA6FD75BDD}"/>
              </a:ext>
            </a:extLst>
          </p:cNvPr>
          <p:cNvSpPr txBox="1"/>
          <p:nvPr/>
        </p:nvSpPr>
        <p:spPr>
          <a:xfrm>
            <a:off x="723900" y="3552893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“I love the design.”</a:t>
            </a:r>
            <a:endParaRPr lang="de-DE" sz="1500" i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49E48C8-3A46-DA2C-E266-F9A39D3CA9A6}"/>
              </a:ext>
            </a:extLst>
          </p:cNvPr>
          <p:cNvSpPr txBox="1"/>
          <p:nvPr/>
        </p:nvSpPr>
        <p:spPr>
          <a:xfrm>
            <a:off x="723900" y="4092034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en-US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“More rear space, please.”</a:t>
            </a:r>
            <a:endParaRPr lang="de-DE" sz="1500" i="1" kern="1200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3660D1B-95D5-1E1A-3BF2-0D19AE114B27}"/>
              </a:ext>
            </a:extLst>
          </p:cNvPr>
          <p:cNvSpPr txBox="1"/>
          <p:nvPr/>
        </p:nvSpPr>
        <p:spPr>
          <a:xfrm>
            <a:off x="723900" y="4649280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en-US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“The app should just work.”</a:t>
            </a:r>
            <a:endParaRPr lang="de-DE" sz="1500" i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957FE63-41F6-3C0E-D2C7-0B82FAF036AB}"/>
              </a:ext>
            </a:extLst>
          </p:cNvPr>
          <p:cNvSpPr txBox="1"/>
          <p:nvPr/>
        </p:nvSpPr>
        <p:spPr>
          <a:xfrm>
            <a:off x="723900" y="5197474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</a:t>
            </a:r>
            <a:r>
              <a:rPr lang="de-DE" sz="1500" i="1">
                <a:solidFill>
                  <a:srgbClr val="FFFFFF"/>
                </a:solidFill>
                <a:latin typeface="BMWGroupTN Condensed" pitchFamily="2" charset="0"/>
              </a:rPr>
              <a:t>Tesla and GROK“</a:t>
            </a:r>
            <a:endParaRPr lang="de-DE" sz="1500" i="1" kern="1200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4" name="Textfeld 313">
            <a:extLst>
              <a:ext uri="{FF2B5EF4-FFF2-40B4-BE49-F238E27FC236}">
                <a16:creationId xmlns:a16="http://schemas.microsoft.com/office/drawing/2014/main" id="{F2D2A727-C7DF-58FD-B4D0-17B8243BB6EC}"/>
              </a:ext>
            </a:extLst>
          </p:cNvPr>
          <p:cNvSpPr txBox="1"/>
          <p:nvPr/>
        </p:nvSpPr>
        <p:spPr>
          <a:xfrm>
            <a:off x="3271658" y="2583147"/>
            <a:ext cx="812723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548D9E"/>
                </a:solidFill>
                <a:latin typeface="BMWGroupTN Condensed" pitchFamily="2" charset="0"/>
                <a:ea typeface="+mn-ea"/>
                <a:cs typeface="+mn-cs"/>
              </a:rPr>
              <a:t>AFFORDABLE</a:t>
            </a:r>
            <a:endParaRPr lang="de-DE" sz="1120" kern="1200" err="1">
              <a:solidFill>
                <a:srgbClr val="548D9E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5" name="Textfeld 314">
            <a:extLst>
              <a:ext uri="{FF2B5EF4-FFF2-40B4-BE49-F238E27FC236}">
                <a16:creationId xmlns:a16="http://schemas.microsoft.com/office/drawing/2014/main" id="{956491C5-4C8D-2D1E-0DA2-5C5801772AFD}"/>
              </a:ext>
            </a:extLst>
          </p:cNvPr>
          <p:cNvSpPr txBox="1"/>
          <p:nvPr/>
        </p:nvSpPr>
        <p:spPr>
          <a:xfrm>
            <a:off x="4198682" y="2591226"/>
            <a:ext cx="859210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EASY UPDATES</a:t>
            </a:r>
            <a:endParaRPr lang="de-DE" sz="105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6" name="Textfeld 315">
            <a:extLst>
              <a:ext uri="{FF2B5EF4-FFF2-40B4-BE49-F238E27FC236}">
                <a16:creationId xmlns:a16="http://schemas.microsoft.com/office/drawing/2014/main" id="{375CAF53-1C71-D476-0447-8A4CEE34ADAB}"/>
              </a:ext>
            </a:extLst>
          </p:cNvPr>
          <p:cNvSpPr txBox="1"/>
          <p:nvPr/>
        </p:nvSpPr>
        <p:spPr>
          <a:xfrm>
            <a:off x="5172192" y="2591226"/>
            <a:ext cx="827150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DATA PRIVACY</a:t>
            </a:r>
            <a:endParaRPr lang="de-DE" sz="105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7" name="Textfeld 316">
            <a:extLst>
              <a:ext uri="{FF2B5EF4-FFF2-40B4-BE49-F238E27FC236}">
                <a16:creationId xmlns:a16="http://schemas.microsoft.com/office/drawing/2014/main" id="{75EBA5CD-9D5E-B91D-6B25-7072B36B3FC3}"/>
              </a:ext>
            </a:extLst>
          </p:cNvPr>
          <p:cNvSpPr txBox="1"/>
          <p:nvPr/>
        </p:nvSpPr>
        <p:spPr>
          <a:xfrm>
            <a:off x="3182693" y="2780902"/>
            <a:ext cx="516167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00" b="1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SAFETY</a:t>
            </a:r>
            <a:endParaRPr lang="de-DE" sz="1200" b="1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8" name="Textfeld 317">
            <a:extLst>
              <a:ext uri="{FF2B5EF4-FFF2-40B4-BE49-F238E27FC236}">
                <a16:creationId xmlns:a16="http://schemas.microsoft.com/office/drawing/2014/main" id="{E0A8C1A5-9835-7AB6-5CEA-F689449AE82C}"/>
              </a:ext>
            </a:extLst>
          </p:cNvPr>
          <p:cNvSpPr txBox="1"/>
          <p:nvPr/>
        </p:nvSpPr>
        <p:spPr>
          <a:xfrm>
            <a:off x="3813159" y="2798214"/>
            <a:ext cx="872034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3E7F0"/>
                </a:solidFill>
                <a:latin typeface="BMWGroupTN Condensed" pitchFamily="2" charset="0"/>
                <a:ea typeface="+mn-ea"/>
                <a:cs typeface="+mn-cs"/>
              </a:rPr>
              <a:t>JOY OF DRIVING</a:t>
            </a:r>
            <a:endParaRPr lang="de-DE" sz="1050" kern="1200" err="1">
              <a:solidFill>
                <a:srgbClr val="C3E7F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9" name="Textfeld 318">
            <a:extLst>
              <a:ext uri="{FF2B5EF4-FFF2-40B4-BE49-F238E27FC236}">
                <a16:creationId xmlns:a16="http://schemas.microsoft.com/office/drawing/2014/main" id="{A44EB551-F593-A790-559F-D4A28CF75E86}"/>
              </a:ext>
            </a:extLst>
          </p:cNvPr>
          <p:cNvSpPr txBox="1"/>
          <p:nvPr/>
        </p:nvSpPr>
        <p:spPr>
          <a:xfrm>
            <a:off x="4799493" y="2780902"/>
            <a:ext cx="1288814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00" b="1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FLEXIBLE STORAGE</a:t>
            </a:r>
            <a:endParaRPr lang="de-DE" sz="1200" b="1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0" name="Textfeld 319">
            <a:extLst>
              <a:ext uri="{FF2B5EF4-FFF2-40B4-BE49-F238E27FC236}">
                <a16:creationId xmlns:a16="http://schemas.microsoft.com/office/drawing/2014/main" id="{D482965D-DA24-B66C-95B0-2BEDBC3AC794}"/>
              </a:ext>
            </a:extLst>
          </p:cNvPr>
          <p:cNvSpPr txBox="1"/>
          <p:nvPr/>
        </p:nvSpPr>
        <p:spPr>
          <a:xfrm>
            <a:off x="3051003" y="2999047"/>
            <a:ext cx="1000274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548D9E"/>
                </a:solidFill>
                <a:latin typeface="BMWGroupTN Condensed" pitchFamily="2" charset="0"/>
                <a:ea typeface="+mn-ea"/>
                <a:cs typeface="+mn-cs"/>
              </a:rPr>
              <a:t>EVERYDAY SPACE</a:t>
            </a:r>
            <a:endParaRPr lang="de-DE" sz="1050" kern="1200" err="1">
              <a:solidFill>
                <a:srgbClr val="548D9E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1" name="Textfeld 320">
            <a:extLst>
              <a:ext uri="{FF2B5EF4-FFF2-40B4-BE49-F238E27FC236}">
                <a16:creationId xmlns:a16="http://schemas.microsoft.com/office/drawing/2014/main" id="{67791AA1-8A22-E943-00C7-833D3D74C7C3}"/>
              </a:ext>
            </a:extLst>
          </p:cNvPr>
          <p:cNvSpPr txBox="1"/>
          <p:nvPr/>
        </p:nvSpPr>
        <p:spPr>
          <a:xfrm>
            <a:off x="4165576" y="2990967"/>
            <a:ext cx="684483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548D9E"/>
                </a:solidFill>
                <a:latin typeface="BMWGroupTN Condensed" pitchFamily="2" charset="0"/>
                <a:ea typeface="+mn-ea"/>
                <a:cs typeface="+mn-cs"/>
              </a:rPr>
              <a:t>EFFICIENCY</a:t>
            </a:r>
            <a:endParaRPr lang="de-DE" sz="1120" kern="1200" err="1">
              <a:solidFill>
                <a:srgbClr val="548D9E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2" name="Textfeld 321">
            <a:extLst>
              <a:ext uri="{FF2B5EF4-FFF2-40B4-BE49-F238E27FC236}">
                <a16:creationId xmlns:a16="http://schemas.microsoft.com/office/drawing/2014/main" id="{E41EC10E-EB56-D400-A812-BBE29E386055}"/>
              </a:ext>
            </a:extLst>
          </p:cNvPr>
          <p:cNvSpPr txBox="1"/>
          <p:nvPr/>
        </p:nvSpPr>
        <p:spPr>
          <a:xfrm>
            <a:off x="4964359" y="2999047"/>
            <a:ext cx="692497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3E7F0"/>
                </a:solidFill>
                <a:latin typeface="BMWGroupTN Condensed" pitchFamily="2" charset="0"/>
                <a:ea typeface="+mn-ea"/>
                <a:cs typeface="+mn-cs"/>
              </a:rPr>
              <a:t>CONNECTED</a:t>
            </a:r>
            <a:endParaRPr lang="de-DE" sz="1050" kern="1200" err="1">
              <a:solidFill>
                <a:srgbClr val="C3E7F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3" name="Textfeld 322">
            <a:extLst>
              <a:ext uri="{FF2B5EF4-FFF2-40B4-BE49-F238E27FC236}">
                <a16:creationId xmlns:a16="http://schemas.microsoft.com/office/drawing/2014/main" id="{D2A36DB3-04F6-C3F1-AC20-9FAFA737D5B7}"/>
              </a:ext>
            </a:extLst>
          </p:cNvPr>
          <p:cNvSpPr txBox="1"/>
          <p:nvPr/>
        </p:nvSpPr>
        <p:spPr>
          <a:xfrm>
            <a:off x="5771157" y="2990967"/>
            <a:ext cx="448841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DESIGN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4" name="Textfeld 323">
            <a:extLst>
              <a:ext uri="{FF2B5EF4-FFF2-40B4-BE49-F238E27FC236}">
                <a16:creationId xmlns:a16="http://schemas.microsoft.com/office/drawing/2014/main" id="{3EE80506-334E-FBC6-7687-006A77914D02}"/>
              </a:ext>
            </a:extLst>
          </p:cNvPr>
          <p:cNvSpPr txBox="1"/>
          <p:nvPr/>
        </p:nvSpPr>
        <p:spPr>
          <a:xfrm>
            <a:off x="3002354" y="3223348"/>
            <a:ext cx="702115" cy="1384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GREAT SOUND</a:t>
            </a:r>
            <a:endParaRPr lang="de-DE" sz="90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5" name="Textfeld 324">
            <a:extLst>
              <a:ext uri="{FF2B5EF4-FFF2-40B4-BE49-F238E27FC236}">
                <a16:creationId xmlns:a16="http://schemas.microsoft.com/office/drawing/2014/main" id="{8A02941E-CCFB-2EB7-96C8-84998CEE3B18}"/>
              </a:ext>
            </a:extLst>
          </p:cNvPr>
          <p:cNvSpPr txBox="1"/>
          <p:nvPr/>
        </p:nvSpPr>
        <p:spPr>
          <a:xfrm>
            <a:off x="3818770" y="3188722"/>
            <a:ext cx="1045158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00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EASY CHARGING</a:t>
            </a:r>
            <a:endParaRPr lang="de-DE" sz="1200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6" name="Textfeld 325">
            <a:extLst>
              <a:ext uri="{FF2B5EF4-FFF2-40B4-BE49-F238E27FC236}">
                <a16:creationId xmlns:a16="http://schemas.microsoft.com/office/drawing/2014/main" id="{431DBEFD-E6AF-06E3-9C7F-BA08008BAD81}"/>
              </a:ext>
            </a:extLst>
          </p:cNvPr>
          <p:cNvSpPr txBox="1"/>
          <p:nvPr/>
        </p:nvSpPr>
        <p:spPr>
          <a:xfrm>
            <a:off x="4978228" y="3197956"/>
            <a:ext cx="1290418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RELIABLE SOFTWARE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7" name="Textfeld 326">
            <a:extLst>
              <a:ext uri="{FF2B5EF4-FFF2-40B4-BE49-F238E27FC236}">
                <a16:creationId xmlns:a16="http://schemas.microsoft.com/office/drawing/2014/main" id="{34E5B0DD-F0C2-63E1-AEC3-3C72AB4BADBF}"/>
              </a:ext>
            </a:extLst>
          </p:cNvPr>
          <p:cNvSpPr txBox="1"/>
          <p:nvPr/>
        </p:nvSpPr>
        <p:spPr>
          <a:xfrm>
            <a:off x="3123381" y="3398788"/>
            <a:ext cx="1009892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CLEAR DISPLAYS</a:t>
            </a:r>
            <a:endParaRPr lang="de-DE" sz="1120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8" name="Textfeld 327">
            <a:extLst>
              <a:ext uri="{FF2B5EF4-FFF2-40B4-BE49-F238E27FC236}">
                <a16:creationId xmlns:a16="http://schemas.microsoft.com/office/drawing/2014/main" id="{185B4EE2-529C-EA99-3751-7F51A062368B}"/>
              </a:ext>
            </a:extLst>
          </p:cNvPr>
          <p:cNvSpPr txBox="1"/>
          <p:nvPr/>
        </p:nvSpPr>
        <p:spPr>
          <a:xfrm>
            <a:off x="4247573" y="3406867"/>
            <a:ext cx="700513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EASY ENTRY</a:t>
            </a:r>
          </a:p>
        </p:txBody>
      </p:sp>
      <p:sp>
        <p:nvSpPr>
          <p:cNvPr id="329" name="Textfeld 328">
            <a:extLst>
              <a:ext uri="{FF2B5EF4-FFF2-40B4-BE49-F238E27FC236}">
                <a16:creationId xmlns:a16="http://schemas.microsoft.com/office/drawing/2014/main" id="{9E08265D-ECAD-1171-6B48-B5B6343203F0}"/>
              </a:ext>
            </a:extLst>
          </p:cNvPr>
          <p:cNvSpPr txBox="1"/>
          <p:nvPr/>
        </p:nvSpPr>
        <p:spPr>
          <a:xfrm>
            <a:off x="5062386" y="3406867"/>
            <a:ext cx="1085233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548D9E"/>
                </a:solidFill>
                <a:latin typeface="BMWGroupTN Condensed" pitchFamily="2" charset="0"/>
                <a:ea typeface="+mn-ea"/>
                <a:cs typeface="+mn-cs"/>
              </a:rPr>
              <a:t>SEAT VENTILATION</a:t>
            </a:r>
            <a:endParaRPr lang="de-DE" sz="1050" kern="1200" err="1">
              <a:solidFill>
                <a:srgbClr val="548D9E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0" name="Textfeld 329">
            <a:extLst>
              <a:ext uri="{FF2B5EF4-FFF2-40B4-BE49-F238E27FC236}">
                <a16:creationId xmlns:a16="http://schemas.microsoft.com/office/drawing/2014/main" id="{45249895-0F76-2006-250F-1644273604D7}"/>
              </a:ext>
            </a:extLst>
          </p:cNvPr>
          <p:cNvSpPr txBox="1"/>
          <p:nvPr/>
        </p:nvSpPr>
        <p:spPr>
          <a:xfrm>
            <a:off x="3149029" y="3631168"/>
            <a:ext cx="1017907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HOME CHARGING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1" name="Textfeld 330">
            <a:extLst>
              <a:ext uri="{FF2B5EF4-FFF2-40B4-BE49-F238E27FC236}">
                <a16:creationId xmlns:a16="http://schemas.microsoft.com/office/drawing/2014/main" id="{DE6C4BFE-BB74-2B17-C705-8C3E86FE0EC8}"/>
              </a:ext>
            </a:extLst>
          </p:cNvPr>
          <p:cNvSpPr txBox="1"/>
          <p:nvPr/>
        </p:nvSpPr>
        <p:spPr>
          <a:xfrm>
            <a:off x="4281236" y="3639247"/>
            <a:ext cx="508152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b="1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ART APP</a:t>
            </a:r>
          </a:p>
        </p:txBody>
      </p:sp>
      <p:sp>
        <p:nvSpPr>
          <p:cNvPr id="332" name="Textfeld 331">
            <a:extLst>
              <a:ext uri="{FF2B5EF4-FFF2-40B4-BE49-F238E27FC236}">
                <a16:creationId xmlns:a16="http://schemas.microsoft.com/office/drawing/2014/main" id="{0D7FF00C-4FF4-4D0E-568F-31140EE61044}"/>
              </a:ext>
            </a:extLst>
          </p:cNvPr>
          <p:cNvSpPr txBox="1"/>
          <p:nvPr/>
        </p:nvSpPr>
        <p:spPr>
          <a:xfrm>
            <a:off x="5076813" y="3596544"/>
            <a:ext cx="1045158" cy="21852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42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INTUITIVE UX</a:t>
            </a:r>
            <a:endParaRPr lang="de-DE" sz="142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3" name="Textfeld 332">
            <a:extLst>
              <a:ext uri="{FF2B5EF4-FFF2-40B4-BE49-F238E27FC236}">
                <a16:creationId xmlns:a16="http://schemas.microsoft.com/office/drawing/2014/main" id="{9A3723C1-543B-D532-F6F3-8BD25B03BF90}"/>
              </a:ext>
            </a:extLst>
          </p:cNvPr>
          <p:cNvSpPr txBox="1"/>
          <p:nvPr/>
        </p:nvSpPr>
        <p:spPr>
          <a:xfrm>
            <a:off x="3010370" y="3840464"/>
            <a:ext cx="1005083" cy="1969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8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ICONIC DESIGN</a:t>
            </a:r>
            <a:endParaRPr lang="de-DE" sz="128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4" name="Textfeld 333">
            <a:extLst>
              <a:ext uri="{FF2B5EF4-FFF2-40B4-BE49-F238E27FC236}">
                <a16:creationId xmlns:a16="http://schemas.microsoft.com/office/drawing/2014/main" id="{6D262C56-675B-CE8F-8B94-DD4254DB8D9D}"/>
              </a:ext>
            </a:extLst>
          </p:cNvPr>
          <p:cNvSpPr txBox="1"/>
          <p:nvPr/>
        </p:nvSpPr>
        <p:spPr>
          <a:xfrm>
            <a:off x="4129753" y="3858931"/>
            <a:ext cx="1340110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COMFORTABLE SEATS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5" name="Textfeld 334">
            <a:extLst>
              <a:ext uri="{FF2B5EF4-FFF2-40B4-BE49-F238E27FC236}">
                <a16:creationId xmlns:a16="http://schemas.microsoft.com/office/drawing/2014/main" id="{A09F2A6E-67D8-6437-1D5A-AC4DCF6E3C37}"/>
              </a:ext>
            </a:extLst>
          </p:cNvPr>
          <p:cNvSpPr txBox="1"/>
          <p:nvPr/>
        </p:nvSpPr>
        <p:spPr>
          <a:xfrm>
            <a:off x="5584163" y="3884323"/>
            <a:ext cx="676467" cy="1384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SMOOTH RIDE</a:t>
            </a:r>
            <a:endParaRPr lang="de-DE" sz="90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6" name="Textfeld 335">
            <a:extLst>
              <a:ext uri="{FF2B5EF4-FFF2-40B4-BE49-F238E27FC236}">
                <a16:creationId xmlns:a16="http://schemas.microsoft.com/office/drawing/2014/main" id="{BEC9FC94-7FE2-A8F5-9A11-D6927C34893E}"/>
              </a:ext>
            </a:extLst>
          </p:cNvPr>
          <p:cNvSpPr txBox="1"/>
          <p:nvPr/>
        </p:nvSpPr>
        <p:spPr>
          <a:xfrm>
            <a:off x="3424989" y="4062842"/>
            <a:ext cx="1115690" cy="1969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80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FAST CHARGING</a:t>
            </a:r>
            <a:endParaRPr lang="de-DE" sz="1280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7" name="Textfeld 336">
            <a:extLst>
              <a:ext uri="{FF2B5EF4-FFF2-40B4-BE49-F238E27FC236}">
                <a16:creationId xmlns:a16="http://schemas.microsoft.com/office/drawing/2014/main" id="{FA317F2E-5D2F-C426-24BA-73F9F852C1F6}"/>
              </a:ext>
            </a:extLst>
          </p:cNvPr>
          <p:cNvSpPr txBox="1"/>
          <p:nvPr/>
        </p:nvSpPr>
        <p:spPr>
          <a:xfrm>
            <a:off x="4654979" y="4089387"/>
            <a:ext cx="1191032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FAST APP RESPONSE</a:t>
            </a:r>
            <a:endParaRPr lang="de-DE" sz="105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8" name="Textfeld 337">
            <a:extLst>
              <a:ext uri="{FF2B5EF4-FFF2-40B4-BE49-F238E27FC236}">
                <a16:creationId xmlns:a16="http://schemas.microsoft.com/office/drawing/2014/main" id="{4A30347D-2068-3142-3161-3179BE027F36}"/>
              </a:ext>
            </a:extLst>
          </p:cNvPr>
          <p:cNvSpPr txBox="1"/>
          <p:nvPr/>
        </p:nvSpPr>
        <p:spPr>
          <a:xfrm>
            <a:off x="3064871" y="4301377"/>
            <a:ext cx="825547" cy="15081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80" kern="1200">
                <a:solidFill>
                  <a:srgbClr val="C3E7F0"/>
                </a:solidFill>
                <a:latin typeface="BMWGroupTN Condensed" pitchFamily="2" charset="0"/>
                <a:ea typeface="+mn-ea"/>
                <a:cs typeface="+mn-cs"/>
              </a:rPr>
              <a:t>SPORT WHEELS</a:t>
            </a:r>
            <a:endParaRPr lang="de-DE" sz="980" kern="1200" err="1">
              <a:solidFill>
                <a:srgbClr val="C3E7F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9" name="Textfeld 338">
            <a:extLst>
              <a:ext uri="{FF2B5EF4-FFF2-40B4-BE49-F238E27FC236}">
                <a16:creationId xmlns:a16="http://schemas.microsoft.com/office/drawing/2014/main" id="{02BC1770-EEFE-F80A-3BDA-1989EF4B3951}"/>
              </a:ext>
            </a:extLst>
          </p:cNvPr>
          <p:cNvSpPr txBox="1"/>
          <p:nvPr/>
        </p:nvSpPr>
        <p:spPr>
          <a:xfrm>
            <a:off x="4004718" y="4285219"/>
            <a:ext cx="1261564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REAL-WORLD RANGE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0" name="Textfeld 339">
            <a:extLst>
              <a:ext uri="{FF2B5EF4-FFF2-40B4-BE49-F238E27FC236}">
                <a16:creationId xmlns:a16="http://schemas.microsoft.com/office/drawing/2014/main" id="{7F607F02-2B92-A348-5DCB-B5755326517D}"/>
              </a:ext>
            </a:extLst>
          </p:cNvPr>
          <p:cNvSpPr txBox="1"/>
          <p:nvPr/>
        </p:nvSpPr>
        <p:spPr>
          <a:xfrm>
            <a:off x="5380582" y="4293298"/>
            <a:ext cx="825547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3E7F0"/>
                </a:solidFill>
                <a:latin typeface="BMWGroupTN Condensed" pitchFamily="2" charset="0"/>
                <a:ea typeface="+mn-ea"/>
                <a:cs typeface="+mn-cs"/>
              </a:rPr>
              <a:t>EASY PARKING</a:t>
            </a:r>
            <a:endParaRPr lang="de-DE" sz="1050" kern="1200" err="1">
              <a:solidFill>
                <a:srgbClr val="C3E7F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1" name="Textfeld 340">
            <a:extLst>
              <a:ext uri="{FF2B5EF4-FFF2-40B4-BE49-F238E27FC236}">
                <a16:creationId xmlns:a16="http://schemas.microsoft.com/office/drawing/2014/main" id="{45E8B855-3157-BB80-8F79-C87A2FBF9CA0}"/>
              </a:ext>
            </a:extLst>
          </p:cNvPr>
          <p:cNvSpPr txBox="1"/>
          <p:nvPr/>
        </p:nvSpPr>
        <p:spPr>
          <a:xfrm>
            <a:off x="3121778" y="4508366"/>
            <a:ext cx="743793" cy="1384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b="1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HEATED SEATS</a:t>
            </a:r>
            <a:endParaRPr lang="de-DE" sz="900" b="1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2" name="Textfeld 341">
            <a:extLst>
              <a:ext uri="{FF2B5EF4-FFF2-40B4-BE49-F238E27FC236}">
                <a16:creationId xmlns:a16="http://schemas.microsoft.com/office/drawing/2014/main" id="{6702B42F-2C76-3144-DAA5-1D09C09B64C0}"/>
              </a:ext>
            </a:extLst>
          </p:cNvPr>
          <p:cNvSpPr txBox="1"/>
          <p:nvPr/>
        </p:nvSpPr>
        <p:spPr>
          <a:xfrm>
            <a:off x="3979871" y="4482974"/>
            <a:ext cx="1239122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LONG BATTERY LIFE</a:t>
            </a:r>
            <a:endParaRPr lang="de-DE" sz="112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3" name="Textfeld 342">
            <a:extLst>
              <a:ext uri="{FF2B5EF4-FFF2-40B4-BE49-F238E27FC236}">
                <a16:creationId xmlns:a16="http://schemas.microsoft.com/office/drawing/2014/main" id="{6B0F8EE8-9937-DA2F-C6B0-32212575A3E7}"/>
              </a:ext>
            </a:extLst>
          </p:cNvPr>
          <p:cNvSpPr txBox="1"/>
          <p:nvPr/>
        </p:nvSpPr>
        <p:spPr>
          <a:xfrm>
            <a:off x="5333293" y="4499132"/>
            <a:ext cx="815929" cy="15081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80" kern="1200">
                <a:solidFill>
                  <a:srgbClr val="C3E7F0"/>
                </a:solidFill>
                <a:latin typeface="BMWGroupTN Condensed" pitchFamily="2" charset="0"/>
                <a:ea typeface="+mn-ea"/>
                <a:cs typeface="+mn-cs"/>
              </a:rPr>
              <a:t>PERSONALIZED</a:t>
            </a:r>
            <a:endParaRPr lang="de-DE" sz="980" kern="1200" err="1">
              <a:solidFill>
                <a:srgbClr val="C3E7F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4" name="Textfeld 343">
            <a:extLst>
              <a:ext uri="{FF2B5EF4-FFF2-40B4-BE49-F238E27FC236}">
                <a16:creationId xmlns:a16="http://schemas.microsoft.com/office/drawing/2014/main" id="{9AF8627E-E838-B355-FE91-C3C59ADF2E03}"/>
              </a:ext>
            </a:extLst>
          </p:cNvPr>
          <p:cNvSpPr txBox="1"/>
          <p:nvPr/>
        </p:nvSpPr>
        <p:spPr>
          <a:xfrm>
            <a:off x="3048040" y="4698042"/>
            <a:ext cx="705321" cy="1384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CARBON ROOF</a:t>
            </a:r>
            <a:endParaRPr lang="de-DE" sz="900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5" name="Textfeld 344">
            <a:extLst>
              <a:ext uri="{FF2B5EF4-FFF2-40B4-BE49-F238E27FC236}">
                <a16:creationId xmlns:a16="http://schemas.microsoft.com/office/drawing/2014/main" id="{94EAC6CC-5AF3-6399-7926-3268F7F11AC7}"/>
              </a:ext>
            </a:extLst>
          </p:cNvPr>
          <p:cNvSpPr txBox="1"/>
          <p:nvPr/>
        </p:nvSpPr>
        <p:spPr>
          <a:xfrm>
            <a:off x="3867662" y="4680729"/>
            <a:ext cx="1272784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SIMPLE MAINTENANCE</a:t>
            </a:r>
            <a:endParaRPr lang="de-DE" sz="105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6" name="Textfeld 345">
            <a:extLst>
              <a:ext uri="{FF2B5EF4-FFF2-40B4-BE49-F238E27FC236}">
                <a16:creationId xmlns:a16="http://schemas.microsoft.com/office/drawing/2014/main" id="{8F02843D-039D-2906-035A-A3CB3554D99C}"/>
              </a:ext>
            </a:extLst>
          </p:cNvPr>
          <p:cNvSpPr txBox="1"/>
          <p:nvPr/>
        </p:nvSpPr>
        <p:spPr>
          <a:xfrm>
            <a:off x="5254746" y="4698042"/>
            <a:ext cx="968214" cy="1384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CLEAR NAVIGATION</a:t>
            </a:r>
            <a:endParaRPr lang="de-DE" sz="90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7" name="Textfeld 346">
            <a:extLst>
              <a:ext uri="{FF2B5EF4-FFF2-40B4-BE49-F238E27FC236}">
                <a16:creationId xmlns:a16="http://schemas.microsoft.com/office/drawing/2014/main" id="{D7D743AE-DFC1-CF01-B524-0358FBE6B150}"/>
              </a:ext>
            </a:extLst>
          </p:cNvPr>
          <p:cNvSpPr txBox="1"/>
          <p:nvPr/>
        </p:nvSpPr>
        <p:spPr>
          <a:xfrm>
            <a:off x="3076894" y="4867711"/>
            <a:ext cx="1288814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LOW RUNNING COSTS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8" name="Textfeld 347">
            <a:extLst>
              <a:ext uri="{FF2B5EF4-FFF2-40B4-BE49-F238E27FC236}">
                <a16:creationId xmlns:a16="http://schemas.microsoft.com/office/drawing/2014/main" id="{C7561BC7-78DE-34BD-11CE-0D20C9192FD5}"/>
              </a:ext>
            </a:extLst>
          </p:cNvPr>
          <p:cNvSpPr txBox="1"/>
          <p:nvPr/>
        </p:nvSpPr>
        <p:spPr>
          <a:xfrm>
            <a:off x="4480008" y="4867711"/>
            <a:ext cx="549831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DYNAMIC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9" name="Textfeld 348">
            <a:extLst>
              <a:ext uri="{FF2B5EF4-FFF2-40B4-BE49-F238E27FC236}">
                <a16:creationId xmlns:a16="http://schemas.microsoft.com/office/drawing/2014/main" id="{8501BB45-67C7-F5BC-774C-DE0056DBC539}"/>
              </a:ext>
            </a:extLst>
          </p:cNvPr>
          <p:cNvSpPr txBox="1"/>
          <p:nvPr/>
        </p:nvSpPr>
        <p:spPr>
          <a:xfrm>
            <a:off x="5144139" y="4875790"/>
            <a:ext cx="1049967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ROOM FOR FAMILY</a:t>
            </a:r>
            <a:endParaRPr lang="de-DE" sz="105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0" name="Textfeld 349">
            <a:extLst>
              <a:ext uri="{FF2B5EF4-FFF2-40B4-BE49-F238E27FC236}">
                <a16:creationId xmlns:a16="http://schemas.microsoft.com/office/drawing/2014/main" id="{9AE23216-E724-3147-E2F0-E7472F9BA3A9}"/>
              </a:ext>
            </a:extLst>
          </p:cNvPr>
          <p:cNvSpPr txBox="1"/>
          <p:nvPr/>
        </p:nvSpPr>
        <p:spPr>
          <a:xfrm>
            <a:off x="3194715" y="5065466"/>
            <a:ext cx="849592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SUSTAINABLE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1" name="Textfeld 350">
            <a:extLst>
              <a:ext uri="{FF2B5EF4-FFF2-40B4-BE49-F238E27FC236}">
                <a16:creationId xmlns:a16="http://schemas.microsoft.com/office/drawing/2014/main" id="{D26FE032-4003-3B68-4384-E7E80B10F868}"/>
              </a:ext>
            </a:extLst>
          </p:cNvPr>
          <p:cNvSpPr txBox="1"/>
          <p:nvPr/>
        </p:nvSpPr>
        <p:spPr>
          <a:xfrm>
            <a:off x="4158607" y="5065466"/>
            <a:ext cx="1266372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EASY CHILD SEAT FIT</a:t>
            </a:r>
            <a:endParaRPr lang="de-DE" sz="1120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2" name="Textfeld 351">
            <a:extLst>
              <a:ext uri="{FF2B5EF4-FFF2-40B4-BE49-F238E27FC236}">
                <a16:creationId xmlns:a16="http://schemas.microsoft.com/office/drawing/2014/main" id="{5E44F8D4-1DCA-D046-26D7-20E42DEFF5A4}"/>
              </a:ext>
            </a:extLst>
          </p:cNvPr>
          <p:cNvSpPr txBox="1"/>
          <p:nvPr/>
        </p:nvSpPr>
        <p:spPr>
          <a:xfrm>
            <a:off x="5539279" y="5073545"/>
            <a:ext cx="537006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548D9E"/>
                </a:solidFill>
                <a:latin typeface="BMWGroupTN Condensed" pitchFamily="2" charset="0"/>
                <a:ea typeface="+mn-ea"/>
                <a:cs typeface="+mn-cs"/>
              </a:rPr>
              <a:t>ELECTRIC</a:t>
            </a:r>
            <a:endParaRPr lang="de-DE" sz="1050" kern="1200" err="1">
              <a:solidFill>
                <a:srgbClr val="548D9E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3" name="Textfeld 352">
            <a:extLst>
              <a:ext uri="{FF2B5EF4-FFF2-40B4-BE49-F238E27FC236}">
                <a16:creationId xmlns:a16="http://schemas.microsoft.com/office/drawing/2014/main" id="{2A792B62-9779-A95F-B41E-45D093644825}"/>
              </a:ext>
            </a:extLst>
          </p:cNvPr>
          <p:cNvSpPr txBox="1"/>
          <p:nvPr/>
        </p:nvSpPr>
        <p:spPr>
          <a:xfrm>
            <a:off x="2997545" y="5297846"/>
            <a:ext cx="1367362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0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PHYSICAL CONTROLS</a:t>
            </a:r>
            <a:endParaRPr lang="de-DE" sz="120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4" name="Textfeld 353">
            <a:extLst>
              <a:ext uri="{FF2B5EF4-FFF2-40B4-BE49-F238E27FC236}">
                <a16:creationId xmlns:a16="http://schemas.microsoft.com/office/drawing/2014/main" id="{D6F1B13B-822F-8B23-C42F-C468EE96F96A}"/>
              </a:ext>
            </a:extLst>
          </p:cNvPr>
          <p:cNvSpPr txBox="1"/>
          <p:nvPr/>
        </p:nvSpPr>
        <p:spPr>
          <a:xfrm>
            <a:off x="4479206" y="5280534"/>
            <a:ext cx="1104470" cy="20774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350" b="1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PREMIUM FEEL</a:t>
            </a:r>
            <a:endParaRPr lang="de-DE" sz="1350" b="1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5" name="Textfeld 354">
            <a:extLst>
              <a:ext uri="{FF2B5EF4-FFF2-40B4-BE49-F238E27FC236}">
                <a16:creationId xmlns:a16="http://schemas.microsoft.com/office/drawing/2014/main" id="{FDAC42ED-3553-FB90-7422-0D9C0BA7E1A6}"/>
              </a:ext>
            </a:extLst>
          </p:cNvPr>
          <p:cNvSpPr txBox="1"/>
          <p:nvPr/>
        </p:nvSpPr>
        <p:spPr>
          <a:xfrm>
            <a:off x="5697977" y="5263221"/>
            <a:ext cx="575479" cy="2308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b="1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RANGE</a:t>
            </a:r>
            <a:endParaRPr lang="de-DE" sz="1500" b="1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6" name="Textfeld 355">
            <a:extLst>
              <a:ext uri="{FF2B5EF4-FFF2-40B4-BE49-F238E27FC236}">
                <a16:creationId xmlns:a16="http://schemas.microsoft.com/office/drawing/2014/main" id="{B644F2F4-A647-68E5-EB54-636A62033BAA}"/>
              </a:ext>
            </a:extLst>
          </p:cNvPr>
          <p:cNvSpPr txBox="1"/>
          <p:nvPr/>
        </p:nvSpPr>
        <p:spPr>
          <a:xfrm>
            <a:off x="10096500" y="5162569"/>
            <a:ext cx="1524000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FUTURE BMW SEDAN</a:t>
            </a:r>
            <a:endParaRPr lang="de-DE" sz="90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7" name="Textfeld 356">
            <a:extLst>
              <a:ext uri="{FF2B5EF4-FFF2-40B4-BE49-F238E27FC236}">
                <a16:creationId xmlns:a16="http://schemas.microsoft.com/office/drawing/2014/main" id="{60D6FCD8-CCBF-1705-C0FA-131722A9FD31}"/>
              </a:ext>
            </a:extLst>
          </p:cNvPr>
          <p:cNvSpPr txBox="1"/>
          <p:nvPr/>
        </p:nvSpPr>
        <p:spPr>
          <a:xfrm>
            <a:off x="10096500" y="5314969"/>
            <a:ext cx="1524000" cy="1077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70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AI CONCEPT VISUAL</a:t>
            </a:r>
            <a:endParaRPr lang="de-DE" sz="70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81323A8-14C5-ECB6-4A5C-FCB77913F3E2}"/>
              </a:ext>
            </a:extLst>
          </p:cNvPr>
          <p:cNvSpPr txBox="1"/>
          <p:nvPr/>
        </p:nvSpPr>
        <p:spPr>
          <a:xfrm>
            <a:off x="723900" y="2703021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 dirty="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“The NEW XPENG.”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376663E-E248-6798-1F59-042655FA4FFC}"/>
              </a:ext>
            </a:extLst>
          </p:cNvPr>
          <p:cNvSpPr txBox="1"/>
          <p:nvPr/>
        </p:nvSpPr>
        <p:spPr>
          <a:xfrm>
            <a:off x="723900" y="3273807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</a:t>
            </a:r>
            <a:r>
              <a:rPr lang="de-DE" sz="1500" i="1" kern="120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Ugly kidney grille</a:t>
            </a: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.”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469E7A6-3A38-B9C3-9ADD-EADD07141541}"/>
              </a:ext>
            </a:extLst>
          </p:cNvPr>
          <p:cNvSpPr txBox="1"/>
          <p:nvPr/>
        </p:nvSpPr>
        <p:spPr>
          <a:xfrm>
            <a:off x="723900" y="3835340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 dirty="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“Too </a:t>
            </a:r>
            <a:r>
              <a:rPr lang="de-DE" sz="1500" i="1" kern="1200" dirty="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much</a:t>
            </a:r>
            <a:r>
              <a:rPr lang="de-DE" sz="1500" i="1" kern="1200" dirty="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 </a:t>
            </a:r>
            <a:r>
              <a:rPr lang="de-DE" sz="1500" i="1" kern="1200" dirty="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plastic</a:t>
            </a:r>
            <a:r>
              <a:rPr lang="de-DE" sz="1500" i="1" kern="1200" dirty="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.”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EDE21FC-8D7A-555B-FAEC-C4478AEAAA09}"/>
              </a:ext>
            </a:extLst>
          </p:cNvPr>
          <p:cNvSpPr txBox="1"/>
          <p:nvPr/>
        </p:nvSpPr>
        <p:spPr>
          <a:xfrm>
            <a:off x="723900" y="4360115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</a:t>
            </a:r>
            <a:r>
              <a:rPr lang="de-DE" sz="1500" i="1" kern="120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Uncomfortable</a:t>
            </a: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 </a:t>
            </a:r>
            <a:r>
              <a:rPr lang="de-DE" sz="1500" i="1" kern="120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seats</a:t>
            </a: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.”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E0E4F99-CBF1-B689-055E-BF074981E6B2}"/>
              </a:ext>
            </a:extLst>
          </p:cNvPr>
          <p:cNvSpPr txBox="1"/>
          <p:nvPr/>
        </p:nvSpPr>
        <p:spPr>
          <a:xfrm>
            <a:off x="723900" y="4921515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</a:t>
            </a:r>
            <a:r>
              <a:rPr lang="de-DE" sz="1500" i="1">
                <a:solidFill>
                  <a:srgbClr val="FFFFFF"/>
                </a:solidFill>
                <a:latin typeface="BMWGroupTN Condensed" pitchFamily="2" charset="0"/>
              </a:rPr>
              <a:t>Very nice </a:t>
            </a:r>
            <a:r>
              <a:rPr lang="de-DE" sz="1500" i="1" err="1">
                <a:solidFill>
                  <a:srgbClr val="FFFFFF"/>
                </a:solidFill>
                <a:latin typeface="BMWGroupTN Condensed" pitchFamily="2" charset="0"/>
              </a:rPr>
              <a:t>exterior</a:t>
            </a:r>
            <a:r>
              <a:rPr lang="de-DE" sz="1500" i="1">
                <a:solidFill>
                  <a:srgbClr val="FFFFFF"/>
                </a:solidFill>
                <a:latin typeface="BMWGroupTN Condensed" pitchFamily="2" charset="0"/>
              </a:rPr>
              <a:t> </a:t>
            </a:r>
            <a:r>
              <a:rPr lang="de-DE" sz="1500" i="1" err="1">
                <a:solidFill>
                  <a:srgbClr val="FFFFFF"/>
                </a:solidFill>
                <a:latin typeface="BMWGroupTN Condensed" pitchFamily="2" charset="0"/>
              </a:rPr>
              <a:t>colors</a:t>
            </a:r>
            <a:r>
              <a:rPr lang="de-DE" sz="1500" i="1">
                <a:solidFill>
                  <a:srgbClr val="FFFFFF"/>
                </a:solidFill>
                <a:latin typeface="BMWGroupTN Condensed" pitchFamily="2" charset="0"/>
              </a:rPr>
              <a:t>.”</a:t>
            </a:r>
            <a:endParaRPr lang="de-DE" sz="1500" i="1" kern="1200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F0C0016-4009-A283-1535-CD6D6F7774CA}"/>
              </a:ext>
            </a:extLst>
          </p:cNvPr>
          <p:cNvCxnSpPr/>
          <p:nvPr/>
        </p:nvCxnSpPr>
        <p:spPr>
          <a:xfrm>
            <a:off x="566928" y="2156059"/>
            <a:ext cx="10790883" cy="0"/>
          </a:xfrm>
          <a:prstGeom prst="line">
            <a:avLst/>
          </a:prstGeom>
          <a:ln w="19050">
            <a:solidFill>
              <a:schemeClr val="bg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391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>
          <a:extLst>
            <a:ext uri="{FF2B5EF4-FFF2-40B4-BE49-F238E27FC236}">
              <a16:creationId xmlns:a16="http://schemas.microsoft.com/office/drawing/2014/main" id="{6E3810FC-E8F0-4E6F-9BFB-7894FAFDF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hteck 131">
            <a:extLst>
              <a:ext uri="{FF2B5EF4-FFF2-40B4-BE49-F238E27FC236}">
                <a16:creationId xmlns:a16="http://schemas.microsoft.com/office/drawing/2014/main" id="{6FF8934D-A70D-916F-D4B4-4A31CCA70E31}"/>
              </a:ext>
            </a:extLst>
          </p:cNvPr>
          <p:cNvSpPr/>
          <p:nvPr/>
        </p:nvSpPr>
        <p:spPr>
          <a:xfrm>
            <a:off x="8447284" y="2306435"/>
            <a:ext cx="1601606" cy="34417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0F88A928-0C29-1902-CEE0-9770789DC4D0}"/>
              </a:ext>
            </a:extLst>
          </p:cNvPr>
          <p:cNvSpPr/>
          <p:nvPr/>
        </p:nvSpPr>
        <p:spPr>
          <a:xfrm>
            <a:off x="5570257" y="2306434"/>
            <a:ext cx="1677000" cy="34417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100" b="1" err="1"/>
              <a:t>Specification</a:t>
            </a:r>
            <a:r>
              <a:rPr lang="de-DE" sz="1100" b="1"/>
              <a:t> and </a:t>
            </a:r>
            <a:r>
              <a:rPr lang="de-DE" sz="1100" b="1" err="1"/>
              <a:t>quantification</a:t>
            </a:r>
            <a:endParaRPr lang="de-DE" sz="1100" b="1"/>
          </a:p>
          <a:p>
            <a:endParaRPr lang="de-DE" sz="1100" b="1"/>
          </a:p>
          <a:p>
            <a:r>
              <a:rPr lang="de-DE" sz="1100"/>
              <a:t>Define </a:t>
            </a:r>
            <a:r>
              <a:rPr lang="de-DE" sz="1100" err="1"/>
              <a:t>measurable</a:t>
            </a:r>
            <a:r>
              <a:rPr lang="de-DE" sz="1100"/>
              <a:t> </a:t>
            </a:r>
            <a:r>
              <a:rPr lang="de-DE" sz="1100" err="1"/>
              <a:t>targets</a:t>
            </a:r>
            <a:r>
              <a:rPr lang="de-DE" sz="1100"/>
              <a:t> and </a:t>
            </a:r>
            <a:r>
              <a:rPr lang="de-DE" sz="1100" err="1"/>
              <a:t>acceptance</a:t>
            </a:r>
            <a:r>
              <a:rPr lang="de-DE" sz="1100"/>
              <a:t> </a:t>
            </a:r>
            <a:r>
              <a:rPr lang="de-DE" sz="1100" err="1"/>
              <a:t>criteria</a:t>
            </a:r>
            <a:endParaRPr lang="de-DE" sz="1100"/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EFB4BF00-CF9D-919B-7D9B-C4F8352BFBF2}"/>
              </a:ext>
            </a:extLst>
          </p:cNvPr>
          <p:cNvSpPr/>
          <p:nvPr/>
        </p:nvSpPr>
        <p:spPr>
          <a:xfrm>
            <a:off x="577319" y="2306434"/>
            <a:ext cx="3162300" cy="3458872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05286DA5-B61B-14F8-E548-BC7D70B25CC3}"/>
              </a:ext>
            </a:extLst>
          </p:cNvPr>
          <p:cNvSpPr/>
          <p:nvPr/>
        </p:nvSpPr>
        <p:spPr>
          <a:xfrm>
            <a:off x="693859" y="2386406"/>
            <a:ext cx="1391771" cy="3295228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1" name="Rechteck 140">
            <a:extLst>
              <a:ext uri="{FF2B5EF4-FFF2-40B4-BE49-F238E27FC236}">
                <a16:creationId xmlns:a16="http://schemas.microsoft.com/office/drawing/2014/main" id="{879A8751-A304-628B-601D-13168EB6C0D5}"/>
              </a:ext>
            </a:extLst>
          </p:cNvPr>
          <p:cNvSpPr/>
          <p:nvPr/>
        </p:nvSpPr>
        <p:spPr>
          <a:xfrm>
            <a:off x="2252031" y="2391273"/>
            <a:ext cx="1391771" cy="9980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2" name="Rechteck 141">
            <a:extLst>
              <a:ext uri="{FF2B5EF4-FFF2-40B4-BE49-F238E27FC236}">
                <a16:creationId xmlns:a16="http://schemas.microsoft.com/office/drawing/2014/main" id="{2D944E03-EA0B-D442-13E3-754CC0060446}"/>
              </a:ext>
            </a:extLst>
          </p:cNvPr>
          <p:cNvSpPr/>
          <p:nvPr/>
        </p:nvSpPr>
        <p:spPr>
          <a:xfrm>
            <a:off x="2252031" y="3550891"/>
            <a:ext cx="1391771" cy="101384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FA4C09FA-A60D-15A7-5DD3-2542BB42E505}"/>
              </a:ext>
            </a:extLst>
          </p:cNvPr>
          <p:cNvSpPr/>
          <p:nvPr/>
        </p:nvSpPr>
        <p:spPr>
          <a:xfrm>
            <a:off x="2252031" y="4792271"/>
            <a:ext cx="1391771" cy="875456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4" name="Rechteck 143">
            <a:extLst>
              <a:ext uri="{FF2B5EF4-FFF2-40B4-BE49-F238E27FC236}">
                <a16:creationId xmlns:a16="http://schemas.microsoft.com/office/drawing/2014/main" id="{AED9445C-4A59-3C5C-DD10-015C83AD05BD}"/>
              </a:ext>
            </a:extLst>
          </p:cNvPr>
          <p:cNvSpPr/>
          <p:nvPr/>
        </p:nvSpPr>
        <p:spPr>
          <a:xfrm>
            <a:off x="3863658" y="2306434"/>
            <a:ext cx="1501706" cy="3458872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90F1DDCE-2EDD-8392-E934-55C695195AE1}"/>
              </a:ext>
            </a:extLst>
          </p:cNvPr>
          <p:cNvSpPr/>
          <p:nvPr/>
        </p:nvSpPr>
        <p:spPr>
          <a:xfrm>
            <a:off x="7251520" y="2734150"/>
            <a:ext cx="989475" cy="47064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6C818041-6ACD-E420-FCDE-4D08176D8DB7}"/>
              </a:ext>
            </a:extLst>
          </p:cNvPr>
          <p:cNvSpPr/>
          <p:nvPr/>
        </p:nvSpPr>
        <p:spPr>
          <a:xfrm>
            <a:off x="7251520" y="3278348"/>
            <a:ext cx="989475" cy="47064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7" name="Rechteck 146">
            <a:extLst>
              <a:ext uri="{FF2B5EF4-FFF2-40B4-BE49-F238E27FC236}">
                <a16:creationId xmlns:a16="http://schemas.microsoft.com/office/drawing/2014/main" id="{574C2ABC-40DC-B29C-2176-D711FA4686A3}"/>
              </a:ext>
            </a:extLst>
          </p:cNvPr>
          <p:cNvSpPr/>
          <p:nvPr/>
        </p:nvSpPr>
        <p:spPr>
          <a:xfrm>
            <a:off x="7251520" y="3819509"/>
            <a:ext cx="989475" cy="47064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3B2A32B2-8CB4-69A2-49CE-053882AED9FD}"/>
              </a:ext>
            </a:extLst>
          </p:cNvPr>
          <p:cNvSpPr/>
          <p:nvPr/>
        </p:nvSpPr>
        <p:spPr>
          <a:xfrm>
            <a:off x="7251520" y="4350774"/>
            <a:ext cx="989475" cy="47064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50" name="Rechteck 149">
            <a:extLst>
              <a:ext uri="{FF2B5EF4-FFF2-40B4-BE49-F238E27FC236}">
                <a16:creationId xmlns:a16="http://schemas.microsoft.com/office/drawing/2014/main" id="{6C5AF362-0958-1883-1EC6-1DA8FF3DE7C1}"/>
              </a:ext>
            </a:extLst>
          </p:cNvPr>
          <p:cNvSpPr/>
          <p:nvPr/>
        </p:nvSpPr>
        <p:spPr>
          <a:xfrm>
            <a:off x="10291587" y="2306434"/>
            <a:ext cx="1395679" cy="34417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D53A6743-EBA5-1737-25C9-67EA1B5EA204}"/>
              </a:ext>
            </a:extLst>
          </p:cNvPr>
          <p:cNvSpPr txBox="1"/>
          <p:nvPr/>
        </p:nvSpPr>
        <p:spPr>
          <a:xfrm>
            <a:off x="803765" y="2551900"/>
            <a:ext cx="1059180" cy="27699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Baseline: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Previous</a:t>
            </a: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 BMW </a:t>
            </a: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model</a:t>
            </a: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BMW </a:t>
            </a: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portfolio</a:t>
            </a: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Sales </a:t>
            </a: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volume</a:t>
            </a: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 </a:t>
            </a:r>
          </a:p>
        </p:txBody>
      </p:sp>
      <p:sp>
        <p:nvSpPr>
          <p:cNvPr id="152" name="Textfeld 151">
            <a:extLst>
              <a:ext uri="{FF2B5EF4-FFF2-40B4-BE49-F238E27FC236}">
                <a16:creationId xmlns:a16="http://schemas.microsoft.com/office/drawing/2014/main" id="{35D5EC35-9BB7-B631-23A9-D8E766412206}"/>
              </a:ext>
            </a:extLst>
          </p:cNvPr>
          <p:cNvSpPr txBox="1"/>
          <p:nvPr/>
        </p:nvSpPr>
        <p:spPr>
          <a:xfrm>
            <a:off x="2513580" y="2762184"/>
            <a:ext cx="953710" cy="2154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Competition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44043588-223A-29CE-C5F7-D79B976CD7E3}"/>
              </a:ext>
            </a:extLst>
          </p:cNvPr>
          <p:cNvSpPr txBox="1"/>
          <p:nvPr/>
        </p:nvSpPr>
        <p:spPr>
          <a:xfrm>
            <a:off x="2265652" y="3808194"/>
            <a:ext cx="1332659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Customer / </a:t>
            </a: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public</a:t>
            </a:r>
            <a:br>
              <a:rPr lang="de-DE" sz="1400"/>
            </a:b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feedback</a:t>
            </a: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54" name="Textfeld 153">
            <a:extLst>
              <a:ext uri="{FF2B5EF4-FFF2-40B4-BE49-F238E27FC236}">
                <a16:creationId xmlns:a16="http://schemas.microsoft.com/office/drawing/2014/main" id="{81D8473A-06BD-2F6F-7080-DA47C03CB579}"/>
              </a:ext>
            </a:extLst>
          </p:cNvPr>
          <p:cNvSpPr txBox="1"/>
          <p:nvPr/>
        </p:nvSpPr>
        <p:spPr>
          <a:xfrm>
            <a:off x="2471061" y="4993016"/>
            <a:ext cx="953710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Product</a:t>
            </a: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 and global </a:t>
            </a: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trends</a:t>
            </a: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C0A4979E-C82D-3C38-6C6F-372AD9DD7855}"/>
              </a:ext>
            </a:extLst>
          </p:cNvPr>
          <p:cNvSpPr txBox="1"/>
          <p:nvPr/>
        </p:nvSpPr>
        <p:spPr>
          <a:xfrm>
            <a:off x="5683525" y="3901542"/>
            <a:ext cx="1533645" cy="16619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Metric</a:t>
            </a:r>
            <a:br>
              <a:rPr lang="de-DE"/>
            </a:b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specification</a:t>
            </a:r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itchFamily="2" charset="2" panose="05000000000000000000"/>
              <a:buChar char="§"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Range: 600 or 700 mi?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itchFamily="2" charset="2" panose="05000000000000000000"/>
              <a:buChar char="§"/>
              <a:defRPr/>
            </a:pPr>
            <a:r>
              <a:rPr lang="en-US" sz="1100">
                <a:solidFill>
                  <a:schemeClr val="bg1"/>
                </a:solidFill>
                <a:latin typeface="BMWGroupTN Condensed"/>
              </a:rPr>
              <a:t>Cooler for</a:t>
            </a:r>
            <a:br>
              <a:rPr lang="en-US"/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how many bottles?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itchFamily="2" charset="2" panose="05000000000000000000"/>
              <a:buChar char="§"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Seat ventilation: fast enough?</a:t>
            </a:r>
            <a:endParaRPr lang="de-DE" sz="1100">
              <a:solidFill>
                <a:schemeClr val="bg1"/>
              </a:solidFill>
              <a:latin typeface="BMWGroupTN Condensed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itchFamily="2" charset="2" panose="05000000000000000000"/>
              <a:buChar char="§"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...</a:t>
            </a:r>
          </a:p>
        </p:txBody>
      </p:sp>
      <p:sp>
        <p:nvSpPr>
          <p:cNvPr id="156" name="Textfeld 155">
            <a:extLst>
              <a:ext uri="{FF2B5EF4-FFF2-40B4-BE49-F238E27FC236}">
                <a16:creationId xmlns:a16="http://schemas.microsoft.com/office/drawing/2014/main" id="{DD4D8A8A-3C76-3422-09BF-07FC373D6584}"/>
              </a:ext>
            </a:extLst>
          </p:cNvPr>
          <p:cNvSpPr txBox="1"/>
          <p:nvPr/>
        </p:nvSpPr>
        <p:spPr>
          <a:xfrm>
            <a:off x="7295125" y="2891141"/>
            <a:ext cx="887024" cy="1692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Exterior</a:t>
            </a:r>
          </a:p>
        </p:txBody>
      </p:sp>
      <p:sp>
        <p:nvSpPr>
          <p:cNvPr id="157" name="Textfeld 156">
            <a:extLst>
              <a:ext uri="{FF2B5EF4-FFF2-40B4-BE49-F238E27FC236}">
                <a16:creationId xmlns:a16="http://schemas.microsoft.com/office/drawing/2014/main" id="{2A6E93D8-2BB5-8576-914D-2AB90C3A9F7B}"/>
              </a:ext>
            </a:extLst>
          </p:cNvPr>
          <p:cNvSpPr txBox="1"/>
          <p:nvPr/>
        </p:nvSpPr>
        <p:spPr>
          <a:xfrm>
            <a:off x="7295125" y="3438262"/>
            <a:ext cx="887024" cy="16927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Interior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E19C9B92-CA38-72C7-4227-2AB534008DB0}"/>
              </a:ext>
            </a:extLst>
          </p:cNvPr>
          <p:cNvSpPr txBox="1"/>
          <p:nvPr/>
        </p:nvSpPr>
        <p:spPr>
          <a:xfrm>
            <a:off x="7295125" y="3987921"/>
            <a:ext cx="887024" cy="1692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Powertrain</a:t>
            </a:r>
          </a:p>
        </p:txBody>
      </p:sp>
      <p:sp>
        <p:nvSpPr>
          <p:cNvPr id="161" name="Textfeld 160">
            <a:extLst>
              <a:ext uri="{FF2B5EF4-FFF2-40B4-BE49-F238E27FC236}">
                <a16:creationId xmlns:a16="http://schemas.microsoft.com/office/drawing/2014/main" id="{27CD09D3-D73E-88E4-DC02-C36C893672F9}"/>
              </a:ext>
            </a:extLst>
          </p:cNvPr>
          <p:cNvSpPr txBox="1"/>
          <p:nvPr/>
        </p:nvSpPr>
        <p:spPr>
          <a:xfrm>
            <a:off x="264487" y="1674700"/>
            <a:ext cx="2490612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Situation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analysis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62" name="Textfeld 161">
            <a:extLst>
              <a:ext uri="{FF2B5EF4-FFF2-40B4-BE49-F238E27FC236}">
                <a16:creationId xmlns:a16="http://schemas.microsoft.com/office/drawing/2014/main" id="{E48BDDD2-4D8D-482E-0DC8-8517715914CD}"/>
              </a:ext>
            </a:extLst>
          </p:cNvPr>
          <p:cNvSpPr txBox="1"/>
          <p:nvPr/>
        </p:nvSpPr>
        <p:spPr>
          <a:xfrm>
            <a:off x="8325271" y="1752349"/>
            <a:ext cx="1699576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Prioritization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cxnSp>
        <p:nvCxnSpPr>
          <p:cNvPr id="170" name="Gerader Verbinder 169">
            <a:extLst>
              <a:ext uri="{FF2B5EF4-FFF2-40B4-BE49-F238E27FC236}">
                <a16:creationId xmlns:a16="http://schemas.microsoft.com/office/drawing/2014/main" id="{D0B574D6-9024-4160-4957-00BED8F26EFB}"/>
              </a:ext>
            </a:extLst>
          </p:cNvPr>
          <p:cNvCxnSpPr/>
          <p:nvPr/>
        </p:nvCxnSpPr>
        <p:spPr>
          <a:xfrm>
            <a:off x="8447284" y="4594843"/>
            <a:ext cx="1601606" cy="0"/>
          </a:xfrm>
          <a:prstGeom prst="line">
            <a:avLst/>
          </a:prstGeom>
          <a:ln w="6350">
            <a:solidFill>
              <a:schemeClr val="bg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rader Verbinder 170">
            <a:extLst>
              <a:ext uri="{FF2B5EF4-FFF2-40B4-BE49-F238E27FC236}">
                <a16:creationId xmlns:a16="http://schemas.microsoft.com/office/drawing/2014/main" id="{17F7A922-3CED-5731-AEE5-E6DC825E07D2}"/>
              </a:ext>
            </a:extLst>
          </p:cNvPr>
          <p:cNvCxnSpPr/>
          <p:nvPr/>
        </p:nvCxnSpPr>
        <p:spPr>
          <a:xfrm>
            <a:off x="8447284" y="3422350"/>
            <a:ext cx="1601606" cy="0"/>
          </a:xfrm>
          <a:prstGeom prst="line">
            <a:avLst/>
          </a:prstGeom>
          <a:ln w="6350">
            <a:solidFill>
              <a:schemeClr val="bg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feld 174">
            <a:extLst>
              <a:ext uri="{FF2B5EF4-FFF2-40B4-BE49-F238E27FC236}">
                <a16:creationId xmlns:a16="http://schemas.microsoft.com/office/drawing/2014/main" id="{C8D69F62-E212-4FFE-7834-D48BA174FA1A}"/>
              </a:ext>
            </a:extLst>
          </p:cNvPr>
          <p:cNvSpPr txBox="1"/>
          <p:nvPr/>
        </p:nvSpPr>
        <p:spPr>
          <a:xfrm>
            <a:off x="10150927" y="1751809"/>
            <a:ext cx="1677000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Documentation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76" name="Textfeld 175">
            <a:extLst>
              <a:ext uri="{FF2B5EF4-FFF2-40B4-BE49-F238E27FC236}">
                <a16:creationId xmlns:a16="http://schemas.microsoft.com/office/drawing/2014/main" id="{77420320-5694-6C74-1449-998A158AE070}"/>
              </a:ext>
            </a:extLst>
          </p:cNvPr>
          <p:cNvSpPr txBox="1"/>
          <p:nvPr/>
        </p:nvSpPr>
        <p:spPr>
          <a:xfrm>
            <a:off x="7879821" y="2696578"/>
            <a:ext cx="2751446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Customer</a:t>
            </a:r>
          </a:p>
        </p:txBody>
      </p:sp>
      <p:sp>
        <p:nvSpPr>
          <p:cNvPr id="177" name="Textfeld 176">
            <a:extLst>
              <a:ext uri="{FF2B5EF4-FFF2-40B4-BE49-F238E27FC236}">
                <a16:creationId xmlns:a16="http://schemas.microsoft.com/office/drawing/2014/main" id="{5E2C6A08-A029-ADE5-8FA6-AEF22B39687A}"/>
              </a:ext>
            </a:extLst>
          </p:cNvPr>
          <p:cNvSpPr txBox="1"/>
          <p:nvPr/>
        </p:nvSpPr>
        <p:spPr>
          <a:xfrm>
            <a:off x="8645633" y="3899361"/>
            <a:ext cx="1163787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Business</a:t>
            </a:r>
          </a:p>
        </p:txBody>
      </p:sp>
      <p:sp>
        <p:nvSpPr>
          <p:cNvPr id="178" name="Textfeld 177">
            <a:extLst>
              <a:ext uri="{FF2B5EF4-FFF2-40B4-BE49-F238E27FC236}">
                <a16:creationId xmlns:a16="http://schemas.microsoft.com/office/drawing/2014/main" id="{6446A95D-42F7-9897-E28A-7B192BE5C88D}"/>
              </a:ext>
            </a:extLst>
          </p:cNvPr>
          <p:cNvSpPr txBox="1"/>
          <p:nvPr/>
        </p:nvSpPr>
        <p:spPr>
          <a:xfrm>
            <a:off x="8310389" y="4848867"/>
            <a:ext cx="1868425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…</a:t>
            </a:r>
          </a:p>
        </p:txBody>
      </p:sp>
      <p:grpSp>
        <p:nvGrpSpPr>
          <p:cNvPr id="181" name="Gruppieren 180">
            <a:extLst>
              <a:ext uri="{FF2B5EF4-FFF2-40B4-BE49-F238E27FC236}">
                <a16:creationId xmlns:a16="http://schemas.microsoft.com/office/drawing/2014/main" id="{BC47B9CA-1E62-52F1-4629-948D0D8B5D67}"/>
              </a:ext>
            </a:extLst>
          </p:cNvPr>
          <p:cNvGrpSpPr/>
          <p:nvPr/>
        </p:nvGrpSpPr>
        <p:grpSpPr>
          <a:xfrm>
            <a:off x="10615977" y="3540088"/>
            <a:ext cx="771794" cy="462143"/>
            <a:chOff x="8030717" y="5218979"/>
            <a:chExt cx="771794" cy="462143"/>
          </a:xfrm>
          <a:noFill/>
        </p:grpSpPr>
        <p:sp>
          <p:nvSpPr>
            <p:cNvPr id="182" name="Pfeil: nach rechts gekrümmt 181">
              <a:extLst>
                <a:ext uri="{FF2B5EF4-FFF2-40B4-BE49-F238E27FC236}">
                  <a16:creationId xmlns:a16="http://schemas.microsoft.com/office/drawing/2014/main" id="{BFF5550D-1160-4168-AAB0-0803A9318241}"/>
                </a:ext>
              </a:extLst>
            </p:cNvPr>
            <p:cNvSpPr/>
            <p:nvPr/>
          </p:nvSpPr>
          <p:spPr>
            <a:xfrm>
              <a:off x="8030717" y="5248275"/>
              <a:ext cx="379858" cy="432847"/>
            </a:xfrm>
            <a:prstGeom prst="curvedRightArrow">
              <a:avLst/>
            </a:prstGeom>
            <a:grpFill/>
            <a:ln w="19050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endParaRPr>
            </a:p>
          </p:txBody>
        </p:sp>
        <p:sp>
          <p:nvSpPr>
            <p:cNvPr id="183" name="Pfeil: nach rechts gekrümmt 182">
              <a:extLst>
                <a:ext uri="{FF2B5EF4-FFF2-40B4-BE49-F238E27FC236}">
                  <a16:creationId xmlns:a16="http://schemas.microsoft.com/office/drawing/2014/main" id="{D33C0E96-9ED4-E29B-736C-1300A515E6A9}"/>
                </a:ext>
              </a:extLst>
            </p:cNvPr>
            <p:cNvSpPr/>
            <p:nvPr/>
          </p:nvSpPr>
          <p:spPr>
            <a:xfrm rot="10996896">
              <a:off x="8422653" y="5218979"/>
              <a:ext cx="379858" cy="432847"/>
            </a:xfrm>
            <a:prstGeom prst="curvedRightArrow">
              <a:avLst/>
            </a:prstGeom>
            <a:grpFill/>
            <a:ln w="19050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endParaRPr>
            </a:p>
          </p:txBody>
        </p:sp>
      </p:grpSp>
      <p:cxnSp>
        <p:nvCxnSpPr>
          <p:cNvPr id="188" name="Gerader Verbinder 187">
            <a:extLst>
              <a:ext uri="{FF2B5EF4-FFF2-40B4-BE49-F238E27FC236}">
                <a16:creationId xmlns:a16="http://schemas.microsoft.com/office/drawing/2014/main" id="{091334D9-59F6-88BE-A36E-CC64420EDA2A}"/>
              </a:ext>
            </a:extLst>
          </p:cNvPr>
          <p:cNvCxnSpPr>
            <a:stCxn id="141" idx="1"/>
          </p:cNvCxnSpPr>
          <p:nvPr/>
        </p:nvCxnSpPr>
        <p:spPr>
          <a:xfrm flipH="1">
            <a:off x="2158469" y="2890291"/>
            <a:ext cx="93562" cy="0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Gerader Verbinder 188">
            <a:extLst>
              <a:ext uri="{FF2B5EF4-FFF2-40B4-BE49-F238E27FC236}">
                <a16:creationId xmlns:a16="http://schemas.microsoft.com/office/drawing/2014/main" id="{0A1C6F10-C15E-23AA-D309-B04CBDA230AA}"/>
              </a:ext>
            </a:extLst>
          </p:cNvPr>
          <p:cNvCxnSpPr/>
          <p:nvPr/>
        </p:nvCxnSpPr>
        <p:spPr>
          <a:xfrm flipH="1">
            <a:off x="2158469" y="5318385"/>
            <a:ext cx="93562" cy="0"/>
          </a:xfrm>
          <a:prstGeom prst="line">
            <a:avLst/>
          </a:prstGeom>
          <a:ln w="190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Gerader Verbinder 189">
            <a:extLst>
              <a:ext uri="{FF2B5EF4-FFF2-40B4-BE49-F238E27FC236}">
                <a16:creationId xmlns:a16="http://schemas.microsoft.com/office/drawing/2014/main" id="{C6490F24-FD19-D3E5-F37D-4A162978F4C3}"/>
              </a:ext>
            </a:extLst>
          </p:cNvPr>
          <p:cNvCxnSpPr/>
          <p:nvPr/>
        </p:nvCxnSpPr>
        <p:spPr>
          <a:xfrm>
            <a:off x="2158469" y="2890291"/>
            <a:ext cx="0" cy="2425874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Gerader Verbinder 190">
            <a:extLst>
              <a:ext uri="{FF2B5EF4-FFF2-40B4-BE49-F238E27FC236}">
                <a16:creationId xmlns:a16="http://schemas.microsoft.com/office/drawing/2014/main" id="{EE11C517-FADB-A3AE-CE75-50B97E48126A}"/>
              </a:ext>
            </a:extLst>
          </p:cNvPr>
          <p:cNvCxnSpPr/>
          <p:nvPr/>
        </p:nvCxnSpPr>
        <p:spPr>
          <a:xfrm flipH="1">
            <a:off x="2085630" y="4044294"/>
            <a:ext cx="72839" cy="0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72566C2C-666B-6A7B-7E53-1B09EFA6689B}"/>
              </a:ext>
            </a:extLst>
          </p:cNvPr>
          <p:cNvCxnSpPr>
            <a:stCxn id="144" idx="1"/>
            <a:endCxn id="139" idx="3"/>
          </p:cNvCxnSpPr>
          <p:nvPr/>
        </p:nvCxnSpPr>
        <p:spPr>
          <a:xfrm flipH="1">
            <a:off x="3739619" y="4035870"/>
            <a:ext cx="124039" cy="0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Gerader Verbinder 192">
            <a:extLst>
              <a:ext uri="{FF2B5EF4-FFF2-40B4-BE49-F238E27FC236}">
                <a16:creationId xmlns:a16="http://schemas.microsoft.com/office/drawing/2014/main" id="{EBE099E4-45E4-7749-0D63-9099112BCE9B}"/>
              </a:ext>
            </a:extLst>
          </p:cNvPr>
          <p:cNvCxnSpPr>
            <a:stCxn id="194" idx="2"/>
            <a:endCxn id="144" idx="3"/>
          </p:cNvCxnSpPr>
          <p:nvPr/>
        </p:nvCxnSpPr>
        <p:spPr>
          <a:xfrm flipH="1">
            <a:off x="5365364" y="4034770"/>
            <a:ext cx="42560" cy="1100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Ellipse 193">
            <a:extLst>
              <a:ext uri="{FF2B5EF4-FFF2-40B4-BE49-F238E27FC236}">
                <a16:creationId xmlns:a16="http://schemas.microsoft.com/office/drawing/2014/main" id="{9AF9CAEC-AC9B-3B92-91F1-DB102EC352FB}"/>
              </a:ext>
            </a:extLst>
          </p:cNvPr>
          <p:cNvSpPr/>
          <p:nvPr/>
        </p:nvSpPr>
        <p:spPr>
          <a:xfrm>
            <a:off x="5407924" y="3967993"/>
            <a:ext cx="117659" cy="133554"/>
          </a:xfrm>
          <a:prstGeom prst="ellipse">
            <a:avLst/>
          </a:prstGeom>
          <a:noFill/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pic>
        <p:nvPicPr>
          <p:cNvPr id="210" name="Grafik 209" descr="Roboter Silhouette">
            <a:extLst>
              <a:ext uri="{FF2B5EF4-FFF2-40B4-BE49-F238E27FC236}">
                <a16:creationId xmlns:a16="http://schemas.microsoft.com/office/drawing/2014/main" id="{0874A945-9610-FD38-ADA4-78372D0F8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0673" y="4336660"/>
            <a:ext cx="204197" cy="204197"/>
          </a:xfrm>
          <a:prstGeom prst="rect">
            <a:avLst/>
          </a:prstGeom>
        </p:spPr>
      </p:pic>
      <p:sp>
        <p:nvSpPr>
          <p:cNvPr id="214" name="Rechteck 213">
            <a:extLst>
              <a:ext uri="{FF2B5EF4-FFF2-40B4-BE49-F238E27FC236}">
                <a16:creationId xmlns:a16="http://schemas.microsoft.com/office/drawing/2014/main" id="{8C501D49-DAA0-3A0D-B721-D838C707C5DE}"/>
              </a:ext>
            </a:extLst>
          </p:cNvPr>
          <p:cNvSpPr/>
          <p:nvPr/>
        </p:nvSpPr>
        <p:spPr>
          <a:xfrm>
            <a:off x="7251520" y="4883356"/>
            <a:ext cx="989475" cy="47064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215" name="Textfeld 214">
            <a:extLst>
              <a:ext uri="{FF2B5EF4-FFF2-40B4-BE49-F238E27FC236}">
                <a16:creationId xmlns:a16="http://schemas.microsoft.com/office/drawing/2014/main" id="{73AF005B-AEAA-A506-7B10-D377C102E05A}"/>
              </a:ext>
            </a:extLst>
          </p:cNvPr>
          <p:cNvSpPr txBox="1"/>
          <p:nvPr/>
        </p:nvSpPr>
        <p:spPr>
          <a:xfrm>
            <a:off x="7317563" y="4379550"/>
            <a:ext cx="887024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Driver </a:t>
            </a:r>
            <a:b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</a:b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assistance</a:t>
            </a:r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pic>
        <p:nvPicPr>
          <p:cNvPr id="219" name="Grafik 218" descr="Roboter Silhouette">
            <a:extLst>
              <a:ext uri="{FF2B5EF4-FFF2-40B4-BE49-F238E27FC236}">
                <a16:creationId xmlns:a16="http://schemas.microsoft.com/office/drawing/2014/main" id="{22D16BDE-6286-FD94-DF66-D4A505A1DD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7161" y="2306434"/>
            <a:ext cx="236066" cy="236066"/>
          </a:xfrm>
          <a:prstGeom prst="rect">
            <a:avLst/>
          </a:prstGeom>
        </p:spPr>
      </p:pic>
      <p:pic>
        <p:nvPicPr>
          <p:cNvPr id="220" name="Grafik 219" descr="Roboter Silhouette">
            <a:extLst>
              <a:ext uri="{FF2B5EF4-FFF2-40B4-BE49-F238E27FC236}">
                <a16:creationId xmlns:a16="http://schemas.microsoft.com/office/drawing/2014/main" id="{A4F0D399-A0B0-C399-2254-7AB9850634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94148" y="2316016"/>
            <a:ext cx="304800" cy="304800"/>
          </a:xfrm>
          <a:prstGeom prst="rect">
            <a:avLst/>
          </a:prstGeom>
        </p:spPr>
      </p:pic>
      <p:pic>
        <p:nvPicPr>
          <p:cNvPr id="221" name="Grafik 220" descr="Roboter Silhouette">
            <a:extLst>
              <a:ext uri="{FF2B5EF4-FFF2-40B4-BE49-F238E27FC236}">
                <a16:creationId xmlns:a16="http://schemas.microsoft.com/office/drawing/2014/main" id="{583E7C19-34AB-6B5B-D995-6C761BE7D5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4911" y="2399500"/>
            <a:ext cx="304800" cy="304800"/>
          </a:xfrm>
          <a:prstGeom prst="rect">
            <a:avLst/>
          </a:prstGeom>
        </p:spPr>
      </p:pic>
      <p:pic>
        <p:nvPicPr>
          <p:cNvPr id="223" name="Grafik 222" descr="Männliches Profil Silhouette">
            <a:extLst>
              <a:ext uri="{FF2B5EF4-FFF2-40B4-BE49-F238E27FC236}">
                <a16:creationId xmlns:a16="http://schemas.microsoft.com/office/drawing/2014/main" id="{F966947D-E64A-9BA0-E544-6A703A7CD8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12508" y="2305330"/>
            <a:ext cx="260192" cy="260192"/>
          </a:xfrm>
          <a:prstGeom prst="rect">
            <a:avLst/>
          </a:prstGeom>
        </p:spPr>
      </p:pic>
      <p:pic>
        <p:nvPicPr>
          <p:cNvPr id="224" name="Grafik 223" descr="Männliches Profil Silhouette">
            <a:extLst>
              <a:ext uri="{FF2B5EF4-FFF2-40B4-BE49-F238E27FC236}">
                <a16:creationId xmlns:a16="http://schemas.microsoft.com/office/drawing/2014/main" id="{5BA025C0-27F0-AAC2-263E-07C410EA39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8719" y="2382841"/>
            <a:ext cx="347601" cy="347601"/>
          </a:xfrm>
          <a:prstGeom prst="rect">
            <a:avLst/>
          </a:prstGeom>
        </p:spPr>
      </p:pic>
      <p:cxnSp>
        <p:nvCxnSpPr>
          <p:cNvPr id="241" name="Gerade Verbindung mit Pfeil 240">
            <a:extLst>
              <a:ext uri="{FF2B5EF4-FFF2-40B4-BE49-F238E27FC236}">
                <a16:creationId xmlns:a16="http://schemas.microsoft.com/office/drawing/2014/main" id="{BF89796E-6674-3F73-E794-E1DFF115986F}"/>
              </a:ext>
            </a:extLst>
          </p:cNvPr>
          <p:cNvCxnSpPr/>
          <p:nvPr/>
        </p:nvCxnSpPr>
        <p:spPr>
          <a:xfrm>
            <a:off x="8273658" y="3999600"/>
            <a:ext cx="132328" cy="0"/>
          </a:xfrm>
          <a:prstGeom prst="straightConnector1">
            <a:avLst/>
          </a:prstGeom>
          <a:ln w="3175">
            <a:solidFill>
              <a:schemeClr val="bg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24240F24-6518-0FFF-4E7A-084A47BD2E2B}"/>
              </a:ext>
            </a:extLst>
          </p:cNvPr>
          <p:cNvCxnSpPr/>
          <p:nvPr/>
        </p:nvCxnSpPr>
        <p:spPr>
          <a:xfrm>
            <a:off x="10080815" y="3997163"/>
            <a:ext cx="176423" cy="0"/>
          </a:xfrm>
          <a:prstGeom prst="straightConnector1">
            <a:avLst/>
          </a:prstGeom>
          <a:ln w="3175">
            <a:solidFill>
              <a:schemeClr val="bg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3" name="Grafik 242" descr="Roboter Silhouette">
            <a:extLst>
              <a:ext uri="{FF2B5EF4-FFF2-40B4-BE49-F238E27FC236}">
                <a16:creationId xmlns:a16="http://schemas.microsoft.com/office/drawing/2014/main" id="{0419D7F6-939F-0E79-7C5C-AAC0CB36B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383" y="3154462"/>
            <a:ext cx="204197" cy="204197"/>
          </a:xfrm>
          <a:prstGeom prst="rect">
            <a:avLst/>
          </a:prstGeom>
        </p:spPr>
      </p:pic>
      <p:sp>
        <p:nvSpPr>
          <p:cNvPr id="245" name="Textfeld 244">
            <a:extLst>
              <a:ext uri="{FF2B5EF4-FFF2-40B4-BE49-F238E27FC236}">
                <a16:creationId xmlns:a16="http://schemas.microsoft.com/office/drawing/2014/main" id="{6F07DB28-BDEE-12EA-BF8E-6D35820AFF0F}"/>
              </a:ext>
            </a:extLst>
          </p:cNvPr>
          <p:cNvSpPr txBox="1"/>
          <p:nvPr/>
        </p:nvSpPr>
        <p:spPr>
          <a:xfrm>
            <a:off x="5621768" y="1602950"/>
            <a:ext cx="2634109" cy="5539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Requirements</a:t>
            </a:r>
            <a:br>
              <a:rPr lang="de-DE"/>
            </a:br>
            <a:r>
              <a:rPr kumimoji="0" lang="de-DE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definition</a:t>
            </a:r>
            <a:endParaRPr kumimoji="0" lang="de-DE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246" name="Textfeld 245">
            <a:extLst>
              <a:ext uri="{FF2B5EF4-FFF2-40B4-BE49-F238E27FC236}">
                <a16:creationId xmlns:a16="http://schemas.microsoft.com/office/drawing/2014/main" id="{7A358915-FED6-E513-8DD1-0A2AA5AB58F4}"/>
              </a:ext>
            </a:extLst>
          </p:cNvPr>
          <p:cNvSpPr txBox="1"/>
          <p:nvPr/>
        </p:nvSpPr>
        <p:spPr>
          <a:xfrm>
            <a:off x="3957151" y="3885021"/>
            <a:ext cx="1266905" cy="13234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All potential </a:t>
            </a: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requirements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 (0/1)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itchFamily="2" charset="2" panose="05000000000000000000"/>
              <a:buChar char="§"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BEV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powertrain</a:t>
            </a:r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itchFamily="2" charset="2" panose="05000000000000000000"/>
              <a:buChar char="§"/>
              <a:defRPr/>
            </a:pPr>
            <a:r>
              <a:rPr lang="de-DE" sz="1100">
                <a:solidFill>
                  <a:schemeClr val="bg1"/>
                </a:solidFill>
                <a:latin typeface="BMWGroupTN Condensed"/>
              </a:rPr>
              <a:t>Cooler</a:t>
            </a:r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itchFamily="2" charset="2" panose="05000000000000000000"/>
              <a:buChar char="§"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Seat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ventilation</a:t>
            </a:r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itchFamily="2" charset="2" panose="05000000000000000000"/>
              <a:buChar char="§"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…</a:t>
            </a:r>
          </a:p>
        </p:txBody>
      </p:sp>
      <p:sp>
        <p:nvSpPr>
          <p:cNvPr id="247" name="Textfeld 246">
            <a:extLst>
              <a:ext uri="{FF2B5EF4-FFF2-40B4-BE49-F238E27FC236}">
                <a16:creationId xmlns:a16="http://schemas.microsoft.com/office/drawing/2014/main" id="{29E1C60B-4FB2-D711-1BAC-7B3AA44D4541}"/>
              </a:ext>
            </a:extLst>
          </p:cNvPr>
          <p:cNvSpPr txBox="1"/>
          <p:nvPr/>
        </p:nvSpPr>
        <p:spPr>
          <a:xfrm>
            <a:off x="4197115" y="5374224"/>
            <a:ext cx="789899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Implement</a:t>
            </a:r>
            <a:br>
              <a:rPr lang="de-DE" b="1"/>
            </a:b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requirement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?</a:t>
            </a:r>
          </a:p>
        </p:txBody>
      </p:sp>
      <p:sp>
        <p:nvSpPr>
          <p:cNvPr id="248" name="Pfeil: nach rechts 247">
            <a:extLst>
              <a:ext uri="{FF2B5EF4-FFF2-40B4-BE49-F238E27FC236}">
                <a16:creationId xmlns:a16="http://schemas.microsoft.com/office/drawing/2014/main" id="{F8770F13-8A6F-22ED-826E-0A0E43CE91DF}"/>
              </a:ext>
            </a:extLst>
          </p:cNvPr>
          <p:cNvSpPr/>
          <p:nvPr/>
        </p:nvSpPr>
        <p:spPr>
          <a:xfrm rot="5400000">
            <a:off x="4504735" y="5131146"/>
            <a:ext cx="167728" cy="280310"/>
          </a:xfrm>
          <a:prstGeom prst="rightArrow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249" name="Textfeld 248">
            <a:extLst>
              <a:ext uri="{FF2B5EF4-FFF2-40B4-BE49-F238E27FC236}">
                <a16:creationId xmlns:a16="http://schemas.microsoft.com/office/drawing/2014/main" id="{DDB37A57-0DE4-35ED-312A-553FFFF8E7EC}"/>
              </a:ext>
            </a:extLst>
          </p:cNvPr>
          <p:cNvSpPr txBox="1"/>
          <p:nvPr/>
        </p:nvSpPr>
        <p:spPr>
          <a:xfrm>
            <a:off x="3816520" y="1582533"/>
            <a:ext cx="1948612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Structur</a:t>
            </a:r>
            <a:r>
              <a:rPr lang="de-DE" b="1">
                <a:solidFill>
                  <a:schemeClr val="bg1"/>
                </a:solidFill>
                <a:latin typeface="BMWGroupTN Condensed"/>
              </a:rPr>
              <a:t>e </a:t>
            </a: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&amp; </a:t>
            </a:r>
            <a:r>
              <a:rPr kumimoji="0" lang="de-DE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context</a:t>
            </a:r>
            <a:endParaRPr kumimoji="0" lang="de-DE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250" name="Textfeld 249">
            <a:extLst>
              <a:ext uri="{FF2B5EF4-FFF2-40B4-BE49-F238E27FC236}">
                <a16:creationId xmlns:a16="http://schemas.microsoft.com/office/drawing/2014/main" id="{06C09014-CF1E-A7AD-7F2F-7AA18C8C4182}"/>
              </a:ext>
            </a:extLst>
          </p:cNvPr>
          <p:cNvSpPr txBox="1"/>
          <p:nvPr/>
        </p:nvSpPr>
        <p:spPr>
          <a:xfrm>
            <a:off x="3957750" y="2341370"/>
            <a:ext cx="1245049" cy="12618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1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Classify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, </a:t>
            </a: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cluster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, </a:t>
            </a: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contextualize</a:t>
            </a:r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AI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standardizes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findings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,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identifies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duplicates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,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groups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themes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 and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connects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insights</a:t>
            </a:r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FillTx/>
              <a:latin typeface="BMWGroupTN Condensed"/>
              <a:ea typeface="+mn-ea"/>
              <a:cs typeface="+mn-cs"/>
            </a:endParaRPr>
          </a:p>
        </p:txBody>
      </p:sp>
      <p:cxnSp>
        <p:nvCxnSpPr>
          <p:cNvPr id="251" name="Gerader Verbinder 250">
            <a:extLst>
              <a:ext uri="{FF2B5EF4-FFF2-40B4-BE49-F238E27FC236}">
                <a16:creationId xmlns:a16="http://schemas.microsoft.com/office/drawing/2014/main" id="{8186A7E6-01E8-B577-AEAE-7842AE47F3E0}"/>
              </a:ext>
            </a:extLst>
          </p:cNvPr>
          <p:cNvCxnSpPr/>
          <p:nvPr/>
        </p:nvCxnSpPr>
        <p:spPr>
          <a:xfrm>
            <a:off x="3863658" y="3843854"/>
            <a:ext cx="1501706" cy="0"/>
          </a:xfrm>
          <a:prstGeom prst="line">
            <a:avLst/>
          </a:prstGeom>
          <a:ln w="1270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4" name="Grafik 253" descr="Roboter Silhouette">
            <a:extLst>
              <a:ext uri="{FF2B5EF4-FFF2-40B4-BE49-F238E27FC236}">
                <a16:creationId xmlns:a16="http://schemas.microsoft.com/office/drawing/2014/main" id="{0845038C-CEA9-CC69-6343-6566C8F3F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8794" y="2301423"/>
            <a:ext cx="236066" cy="236066"/>
          </a:xfrm>
          <a:prstGeom prst="rect">
            <a:avLst/>
          </a:prstGeom>
        </p:spPr>
      </p:pic>
      <p:pic>
        <p:nvPicPr>
          <p:cNvPr id="255" name="Grafik 254" descr="Männliches Profil Silhouette">
            <a:extLst>
              <a:ext uri="{FF2B5EF4-FFF2-40B4-BE49-F238E27FC236}">
                <a16:creationId xmlns:a16="http://schemas.microsoft.com/office/drawing/2014/main" id="{725A37C2-05D5-5A0F-F0BB-7B1FCFEABE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4141" y="2300319"/>
            <a:ext cx="260192" cy="260192"/>
          </a:xfrm>
          <a:prstGeom prst="rect">
            <a:avLst/>
          </a:prstGeom>
        </p:spPr>
      </p:pic>
      <p:cxnSp>
        <p:nvCxnSpPr>
          <p:cNvPr id="256" name="Gerader Verbinder 255">
            <a:extLst>
              <a:ext uri="{FF2B5EF4-FFF2-40B4-BE49-F238E27FC236}">
                <a16:creationId xmlns:a16="http://schemas.microsoft.com/office/drawing/2014/main" id="{A83A9BD6-FBE3-F59C-4ACA-F9904DABDE0A}"/>
              </a:ext>
            </a:extLst>
          </p:cNvPr>
          <p:cNvCxnSpPr/>
          <p:nvPr/>
        </p:nvCxnSpPr>
        <p:spPr>
          <a:xfrm>
            <a:off x="5562766" y="3843854"/>
            <a:ext cx="1684491" cy="0"/>
          </a:xfrm>
          <a:prstGeom prst="line">
            <a:avLst/>
          </a:prstGeom>
          <a:ln w="1270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7" name="Grafik 256" descr="Roboter Silhouette">
            <a:extLst>
              <a:ext uri="{FF2B5EF4-FFF2-40B4-BE49-F238E27FC236}">
                <a16:creationId xmlns:a16="http://schemas.microsoft.com/office/drawing/2014/main" id="{3E979B6F-461A-ACF5-FEC9-9ABD2666E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3014" y="2306434"/>
            <a:ext cx="236066" cy="236066"/>
          </a:xfrm>
          <a:prstGeom prst="rect">
            <a:avLst/>
          </a:prstGeom>
        </p:spPr>
      </p:pic>
      <p:pic>
        <p:nvPicPr>
          <p:cNvPr id="260" name="Grafik 259" descr="Roboter Silhouette">
            <a:extLst>
              <a:ext uri="{FF2B5EF4-FFF2-40B4-BE49-F238E27FC236}">
                <a16:creationId xmlns:a16="http://schemas.microsoft.com/office/drawing/2014/main" id="{697C279F-00B6-FD37-64E8-15ED709AB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673" y="5436232"/>
            <a:ext cx="204197" cy="204197"/>
          </a:xfrm>
          <a:prstGeom prst="rect">
            <a:avLst/>
          </a:prstGeom>
        </p:spPr>
      </p:pic>
      <p:cxnSp>
        <p:nvCxnSpPr>
          <p:cNvPr id="261" name="Gerader Verbinder 260">
            <a:extLst>
              <a:ext uri="{FF2B5EF4-FFF2-40B4-BE49-F238E27FC236}">
                <a16:creationId xmlns:a16="http://schemas.microsoft.com/office/drawing/2014/main" id="{6EF3502B-E1DE-7925-3D55-50FBE3998356}"/>
              </a:ext>
            </a:extLst>
          </p:cNvPr>
          <p:cNvCxnSpPr>
            <a:endCxn id="194" idx="6"/>
          </p:cNvCxnSpPr>
          <p:nvPr/>
        </p:nvCxnSpPr>
        <p:spPr>
          <a:xfrm flipH="1" flipV="1">
            <a:off x="5525583" y="4034770"/>
            <a:ext cx="38130" cy="1100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feld 262">
            <a:extLst>
              <a:ext uri="{FF2B5EF4-FFF2-40B4-BE49-F238E27FC236}">
                <a16:creationId xmlns:a16="http://schemas.microsoft.com/office/drawing/2014/main" id="{07EFB147-B1A5-DA6E-B007-4AA64997E368}"/>
              </a:ext>
            </a:extLst>
          </p:cNvPr>
          <p:cNvSpPr txBox="1"/>
          <p:nvPr/>
        </p:nvSpPr>
        <p:spPr>
          <a:xfrm>
            <a:off x="10499935" y="4044294"/>
            <a:ext cx="1060511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Requirements</a:t>
            </a:r>
            <a:b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</a:b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tracking</a:t>
            </a:r>
          </a:p>
        </p:txBody>
      </p:sp>
      <p:sp>
        <p:nvSpPr>
          <p:cNvPr id="264" name="Titel 2">
            <a:extLst>
              <a:ext uri="{FF2B5EF4-FFF2-40B4-BE49-F238E27FC236}">
                <a16:creationId xmlns:a16="http://schemas.microsoft.com/office/drawing/2014/main" id="{1A2EC14B-3A4C-F9C5-DEDF-DFD79B70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685800"/>
          </a:xfrm>
        </p:spPr>
        <p:txBody>
          <a:bodyPr lIns="27432" tIns="18288" rIns="27432" bIns="18288" anchor="ctr"/>
          <a:lstStyle/>
          <a:p>
            <a:pPr algn="l">
              <a:lnSpc>
                <a:spcPct val="100000"/>
              </a:lnSpc>
            </a:pPr>
            <a:r>
              <a:rPr lang="de-DE" sz="3500" b="1">
                <a:solidFill>
                  <a:srgbClr val="FFFFFF"/>
                </a:solidFill>
                <a:latin typeface="BMWGroupTN Condensed"/>
              </a:rPr>
              <a:t>The </a:t>
            </a:r>
            <a:r>
              <a:rPr lang="de-DE" sz="3500" b="1" err="1">
                <a:solidFill>
                  <a:srgbClr val="FFFFFF"/>
                </a:solidFill>
                <a:latin typeface="BMWGroupTN Condensed"/>
              </a:rPr>
              <a:t>Process</a:t>
            </a:r>
            <a:r>
              <a:rPr lang="de-DE" sz="3500" b="1">
                <a:solidFill>
                  <a:srgbClr val="FFFFFF"/>
                </a:solidFill>
                <a:latin typeface="BMWGroupTN Condensed"/>
              </a:rPr>
              <a:t>.</a:t>
            </a:r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0AA5388-F0BB-1E37-2FBC-8EF92CCC3695}"/>
              </a:ext>
            </a:extLst>
          </p:cNvPr>
          <p:cNvSpPr txBox="1"/>
          <p:nvPr/>
        </p:nvSpPr>
        <p:spPr>
          <a:xfrm>
            <a:off x="7302745" y="4999093"/>
            <a:ext cx="887024" cy="1692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BMWGroupTN Condensed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2052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MW Group">
  <a:themeElements>
    <a:clrScheme name="BMW Group 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BMW Group 2021">
      <a:majorFont>
        <a:latin typeface="BMWGroupTN Condensed"/>
        <a:ea typeface="Arial"/>
        <a:cs typeface="Arial"/>
      </a:majorFont>
      <a:minorFont>
        <a:latin typeface="BMWGroupTN Condensed"/>
        <a:ea typeface="Arial"/>
        <a:cs typeface="Arial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 w="19050">
          <a:noFill/>
          <a:miter lim="800000"/>
        </a:ln>
      </a:spPr>
      <a:bodyPr rtlCol="0" anchor="t" anchorCtr="0"/>
      <a:lstStyle>
        <a:defPPr algn="l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chemeClr val="tx2"/>
          </a:buClr>
          <a:buFontTx/>
          <a:buNone/>
          <a:defRPr sz="1800" kern="1200" dirty="0" err="1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718ABC7C92E84F97F6CA828CE95635" ma:contentTypeVersion="13" ma:contentTypeDescription="Ein neues Dokument erstellen." ma:contentTypeScope="" ma:versionID="e909a96992162767e41d72c0c6795a6c">
  <xsd:schema xmlns:xsd="http://www.w3.org/2001/XMLSchema" xmlns:xs="http://www.w3.org/2001/XMLSchema" xmlns:p="http://schemas.microsoft.com/office/2006/metadata/properties" xmlns:ns2="be5eb708-0e4b-4319-b0bd-9f934b953cf8" xmlns:ns3="dcc6d3f8-c12c-4f59-970e-330a931b91ed" targetNamespace="http://schemas.microsoft.com/office/2006/metadata/properties" ma:root="true" ma:fieldsID="534480ed9625e211591cc4f2537a1b67" ns2:_="" ns3:_="">
    <xsd:import namespace="be5eb708-0e4b-4319-b0bd-9f934b953cf8"/>
    <xsd:import namespace="dcc6d3f8-c12c-4f59-970e-330a931b91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5eb708-0e4b-4319-b0bd-9f934b953c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f96b8e5b-1f52-4d89-9d30-0680d0269b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6d3f8-c12c-4f59-970e-330a931b91e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c283758d-d349-47fe-a2cd-5dc0b6de6cad}" ma:internalName="TaxCatchAll" ma:showField="CatchAllData" ma:web="dcc6d3f8-c12c-4f59-970e-330a931b91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c6d3f8-c12c-4f59-970e-330a931b91ed" xsi:nil="true"/>
    <lcf76f155ced4ddcb4097134ff3c332f xmlns="be5eb708-0e4b-4319-b0bd-9f934b953c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45ED151E-16E4-4997-A320-6373405398F9">
  <ds:schemaRefs>
    <ds:schemaRef ds:uri="be5eb708-0e4b-4319-b0bd-9f934b953cf8"/>
    <ds:schemaRef ds:uri="dcc6d3f8-c12c-4f59-970e-330a931b91e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7F058727-59DB-4643-ABA9-B264DCEFDF6E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8BCFCD65-5E41-44CF-873A-DAEC5C00A6EC">
  <ds:schemaRefs>
    <ds:schemaRef ds:uri="be5eb708-0e4b-4319-b0bd-9f934b953cf8"/>
    <ds:schemaRef ds:uri="dcc6d3f8-c12c-4f59-970e-330a931b91e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309</Words>
  <Application>ONLYOFFICE/9.4.0.129</Application>
  <PresentationFormat>On-screen Show (4:3)</PresentationFormat>
  <Paragraphs>116</Paragraphs>
  <Slides>4</Slides>
  <Notes>2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Gebhardt Benedikt, CP-16</dc:creator>
  <cp:lastModifiedBy>Gebhardt, Benedikt</cp:lastModifiedBy>
  <cp:revision>2</cp:revision>
  <dcterms:created xsi:type="dcterms:W3CDTF">2026-10-06T14:55:30Z</dcterms:created>
  <dcterms:modified xsi:type="dcterms:W3CDTF">2026-10-10T09:01:57Z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935750-240b-48e4-a615-66942a738439_Enabled">
    <vt:lpwstr>true</vt:lpwstr>
  </property>
  <property fmtid="{D5CDD505-2E9C-101B-9397-08002B2CF9AE}" pid="3" name="MSIP_Label_e6935750-240b-48e4-a615-66942a738439_SetDate">
    <vt:lpwstr>2025-08-04T07:35:46Z</vt:lpwstr>
  </property>
  <property fmtid="{D5CDD505-2E9C-101B-9397-08002B2CF9AE}" pid="4" name="MSIP_Label_e6935750-240b-48e4-a615-66942a738439_Method">
    <vt:lpwstr>Standard</vt:lpwstr>
  </property>
  <property fmtid="{D5CDD505-2E9C-101B-9397-08002B2CF9AE}" pid="5" name="MSIP_Label_e6935750-240b-48e4-a615-66942a738439_Name">
    <vt:lpwstr>e6935750-240b-48e4-a615-66942a738439</vt:lpwstr>
  </property>
  <property fmtid="{D5CDD505-2E9C-101B-9397-08002B2CF9AE}" pid="6" name="MSIP_Label_e6935750-240b-48e4-a615-66942a738439_SiteId">
    <vt:lpwstr>ce849bab-cc1c-465b-b62e-18f07c9ac198</vt:lpwstr>
  </property>
  <property fmtid="{D5CDD505-2E9C-101B-9397-08002B2CF9AE}" pid="7" name="MSIP_Label_e6935750-240b-48e4-a615-66942a738439_ActionId">
    <vt:lpwstr>825cc886-d864-4ebd-8fa8-13049a8131e7</vt:lpwstr>
  </property>
  <property fmtid="{D5CDD505-2E9C-101B-9397-08002B2CF9AE}" pid="8" name="MSIP_Label_e6935750-240b-48e4-a615-66942a738439_ContentBits">
    <vt:lpwstr>2</vt:lpwstr>
  </property>
  <property fmtid="{D5CDD505-2E9C-101B-9397-08002B2CF9AE}" pid="9" name="MSIP_Label_e6935750-240b-48e4-a615-66942a738439_Tag">
    <vt:lpwstr>10, 3, 0, 1</vt:lpwstr>
  </property>
  <property fmtid="{D5CDD505-2E9C-101B-9397-08002B2CF9AE}" pid="10" name="MediaServiceImageTags">
    <vt:lpwstr/>
  </property>
  <property fmtid="{D5CDD505-2E9C-101B-9397-08002B2CF9AE}" pid="11" name="ContentTypeId">
    <vt:lpwstr>0x010100B5718ABC7C92E84F97F6CA828CE95635</vt:lpwstr>
  </property>
</Properties>
</file>